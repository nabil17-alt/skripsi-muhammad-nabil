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oco Gothic" panose="020B0604020202020204" charset="0"/>
      <p:regular r:id="rId14"/>
    </p:embeddedFont>
    <p:embeddedFont>
      <p:font typeface="Coco Gothic Bold" panose="020B0604020202020204" charset="0"/>
      <p:regular r:id="rId15"/>
    </p:embeddedFont>
    <p:embeddedFont>
      <p:font typeface="DM Serif Display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svg"/><Relationship Id="rId7" Type="http://schemas.openxmlformats.org/officeDocument/2006/relationships/image" Target="../media/image6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21.sv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svg"/><Relationship Id="rId7" Type="http://schemas.openxmlformats.org/officeDocument/2006/relationships/image" Target="../media/image6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21.sv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6.svg"/><Relationship Id="rId7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387063"/>
            <a:ext cx="18288000" cy="6871237"/>
            <a:chOff x="0" y="0"/>
            <a:chExt cx="4816593" cy="1809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809709"/>
            </a:xfrm>
            <a:custGeom>
              <a:avLst/>
              <a:gdLst/>
              <a:ahLst/>
              <a:cxnLst/>
              <a:rect l="l" t="t" r="r" b="b"/>
              <a:pathLst>
                <a:path w="4816592" h="1809709">
                  <a:moveTo>
                    <a:pt x="0" y="0"/>
                  </a:moveTo>
                  <a:lnTo>
                    <a:pt x="4816592" y="0"/>
                  </a:lnTo>
                  <a:lnTo>
                    <a:pt x="4816592" y="1809709"/>
                  </a:lnTo>
                  <a:lnTo>
                    <a:pt x="0" y="1809709"/>
                  </a:lnTo>
                  <a:close/>
                </a:path>
              </a:pathLst>
            </a:custGeom>
            <a:solidFill>
              <a:srgbClr val="E6F5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847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5975" y="1884585"/>
            <a:ext cx="4498384" cy="6997927"/>
            <a:chOff x="0" y="0"/>
            <a:chExt cx="1184760" cy="18430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4760" cy="1843075"/>
            </a:xfrm>
            <a:custGeom>
              <a:avLst/>
              <a:gdLst/>
              <a:ahLst/>
              <a:cxnLst/>
              <a:rect l="l" t="t" r="r" b="b"/>
              <a:pathLst>
                <a:path w="1184760" h="1843075">
                  <a:moveTo>
                    <a:pt x="0" y="0"/>
                  </a:moveTo>
                  <a:lnTo>
                    <a:pt x="1184760" y="0"/>
                  </a:lnTo>
                  <a:lnTo>
                    <a:pt x="1184760" y="1843075"/>
                  </a:lnTo>
                  <a:lnTo>
                    <a:pt x="0" y="1843075"/>
                  </a:lnTo>
                  <a:close/>
                </a:path>
              </a:pathLst>
            </a:custGeom>
            <a:ln w="190500" cap="sq">
              <a:solidFill>
                <a:srgbClr val="2D3E5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4760" cy="188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8393" y="2386672"/>
            <a:ext cx="14102455" cy="5262619"/>
            <a:chOff x="0" y="0"/>
            <a:chExt cx="3714227" cy="13860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4227" cy="1386039"/>
            </a:xfrm>
            <a:custGeom>
              <a:avLst/>
              <a:gdLst/>
              <a:ahLst/>
              <a:cxnLst/>
              <a:rect l="l" t="t" r="r" b="b"/>
              <a:pathLst>
                <a:path w="3714227" h="1386039">
                  <a:moveTo>
                    <a:pt x="0" y="0"/>
                  </a:moveTo>
                  <a:lnTo>
                    <a:pt x="3714227" y="0"/>
                  </a:lnTo>
                  <a:lnTo>
                    <a:pt x="3714227" y="1386039"/>
                  </a:lnTo>
                  <a:lnTo>
                    <a:pt x="0" y="1386039"/>
                  </a:lnTo>
                  <a:close/>
                </a:path>
              </a:pathLst>
            </a:custGeom>
            <a:solidFill>
              <a:srgbClr val="E6F5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14227" cy="1424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179769" y="7313089"/>
            <a:ext cx="672403" cy="672403"/>
          </a:xfrm>
          <a:custGeom>
            <a:avLst/>
            <a:gdLst/>
            <a:ahLst/>
            <a:cxnLst/>
            <a:rect l="l" t="t" r="r" b="b"/>
            <a:pathLst>
              <a:path w="672403" h="672403">
                <a:moveTo>
                  <a:pt x="0" y="0"/>
                </a:moveTo>
                <a:lnTo>
                  <a:pt x="672403" y="0"/>
                </a:lnTo>
                <a:lnTo>
                  <a:pt x="672403" y="672403"/>
                </a:lnTo>
                <a:lnTo>
                  <a:pt x="0" y="672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2600677" y="3102272"/>
            <a:ext cx="2894199" cy="10541784"/>
          </a:xfrm>
          <a:custGeom>
            <a:avLst/>
            <a:gdLst/>
            <a:ahLst/>
            <a:cxnLst/>
            <a:rect l="l" t="t" r="r" b="b"/>
            <a:pathLst>
              <a:path w="2894199" h="10541784">
                <a:moveTo>
                  <a:pt x="0" y="0"/>
                </a:moveTo>
                <a:lnTo>
                  <a:pt x="2894199" y="0"/>
                </a:lnTo>
                <a:lnTo>
                  <a:pt x="2894199" y="10541784"/>
                </a:lnTo>
                <a:lnTo>
                  <a:pt x="0" y="10541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20800" y="323194"/>
            <a:ext cx="1901553" cy="1901553"/>
          </a:xfrm>
          <a:custGeom>
            <a:avLst/>
            <a:gdLst/>
            <a:ahLst/>
            <a:cxnLst/>
            <a:rect l="l" t="t" r="r" b="b"/>
            <a:pathLst>
              <a:path w="1901553" h="1901553">
                <a:moveTo>
                  <a:pt x="0" y="0"/>
                </a:moveTo>
                <a:lnTo>
                  <a:pt x="1901552" y="0"/>
                </a:lnTo>
                <a:lnTo>
                  <a:pt x="1901552" y="1901553"/>
                </a:lnTo>
                <a:lnTo>
                  <a:pt x="0" y="19015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0" y="2463263"/>
            <a:ext cx="14256382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45"/>
              </a:lnSpc>
            </a:pPr>
            <a:r>
              <a:rPr lang="en-US" sz="9500" spc="1482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SEMINAR PROPOSAL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6742" y="4017737"/>
            <a:ext cx="11388183" cy="234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2"/>
              </a:lnSpc>
            </a:pPr>
            <a:r>
              <a:rPr lang="en-US" sz="4642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PERANCANGAN APLIKASI KASIR DAN MANAJEMEN PEMESANAN PERCETAKAN BERBASIS WEB MENGGUNAKAN FRAMEWORK LARAVEL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6742" y="7451394"/>
            <a:ext cx="7157253" cy="187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919" b="1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Nama : Muhammad Nabil</a:t>
            </a:r>
          </a:p>
          <a:p>
            <a:pPr algn="l">
              <a:lnSpc>
                <a:spcPts val="2919"/>
              </a:lnSpc>
            </a:pPr>
            <a:r>
              <a:rPr lang="en-US" sz="2919" b="1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NIM.  2210031802043</a:t>
            </a:r>
          </a:p>
          <a:p>
            <a:pPr algn="l">
              <a:lnSpc>
                <a:spcPts val="2919"/>
              </a:lnSpc>
            </a:pPr>
            <a:endParaRPr lang="en-US" sz="2919" b="1">
              <a:solidFill>
                <a:srgbClr val="FFFFF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2919"/>
              </a:lnSpc>
            </a:pPr>
            <a:r>
              <a:rPr lang="en-US" sz="2919" b="1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Pembimbing : Dr. Ir. Mardainis, M.Kom</a:t>
            </a:r>
          </a:p>
          <a:p>
            <a:pPr algn="l">
              <a:lnSpc>
                <a:spcPts val="2919"/>
              </a:lnSpc>
            </a:pPr>
            <a:r>
              <a:rPr lang="en-US" sz="2919" b="1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NIDN. 1030036802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SEMINAR PROPOSAL</a:t>
            </a:r>
          </a:p>
        </p:txBody>
      </p:sp>
      <p:sp>
        <p:nvSpPr>
          <p:cNvPr id="5" name="AutoShape 5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6627" y="427970"/>
            <a:ext cx="15458102" cy="870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VISI &amp; MISI PRODI TEKNIK INFORMATIKA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6627" y="2414076"/>
            <a:ext cx="1545810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"Menjadi Program Studi Teknik Informatika yang unggul dalam pengembangan profesional di bidang Artificial Intelligence dan Software Engineering berlandaskan nilai Islam dan budaya Melayu ditingkat nasional dan global pada tahun 2035."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6627" y="1520190"/>
            <a:ext cx="191481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6627" y="3411026"/>
            <a:ext cx="191481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MISI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6627" y="4306376"/>
            <a:ext cx="15458102" cy="354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1.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Menyelenggarakan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pendidikan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berkualitas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di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bidang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Teknik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Informatika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untuk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menghasilkan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lulusan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profesional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berdaya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saing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nasional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dan global,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serta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berkarakter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Islami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berbudaya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Melayu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2.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Mengembangkan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penelitian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unggulan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di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bidang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Artificial Intelligence dan Software Engineering yang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inovatif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aplikatif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serta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bermanfaat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bagi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kemajuan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ilmu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pengetahuan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industri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masyarakat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3.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Melaksanakan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kegiatan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pengabdian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pada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masyarakat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yang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bersifat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pemecahan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masalah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yang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dihadapi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masyarakat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industri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4.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Mengembangkan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kompetensi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mahasiswa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dalam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menghadapi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ekonomi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digital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dengan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kemampuan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kewirausahaan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berbasis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teknologi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(Technopreneur).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5.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Membangun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jejaring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kerja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sama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dengan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industri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pemerintah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institusi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pendidikan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baik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di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dalam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maupun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luar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negeri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untuk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memperkuat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relevansi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pendidikan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penelitian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pengabdian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19109" y="1894173"/>
            <a:ext cx="4643584" cy="6498655"/>
          </a:xfrm>
          <a:custGeom>
            <a:avLst/>
            <a:gdLst/>
            <a:ahLst/>
            <a:cxnLst/>
            <a:rect l="l" t="t" r="r" b="b"/>
            <a:pathLst>
              <a:path w="4643584" h="6498655">
                <a:moveTo>
                  <a:pt x="0" y="0"/>
                </a:moveTo>
                <a:lnTo>
                  <a:pt x="4643584" y="0"/>
                </a:lnTo>
                <a:lnTo>
                  <a:pt x="4643584" y="6498654"/>
                </a:lnTo>
                <a:lnTo>
                  <a:pt x="0" y="6498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2684"/>
            <a:ext cx="16230600" cy="8235616"/>
            <a:chOff x="0" y="0"/>
            <a:chExt cx="4274726" cy="21690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9051"/>
            </a:xfrm>
            <a:custGeom>
              <a:avLst/>
              <a:gdLst/>
              <a:ahLst/>
              <a:cxnLst/>
              <a:rect l="l" t="t" r="r" b="b"/>
              <a:pathLst>
                <a:path w="4274726" h="2169051">
                  <a:moveTo>
                    <a:pt x="0" y="0"/>
                  </a:moveTo>
                  <a:lnTo>
                    <a:pt x="4274726" y="0"/>
                  </a:lnTo>
                  <a:lnTo>
                    <a:pt x="4274726" y="2169051"/>
                  </a:lnTo>
                  <a:lnTo>
                    <a:pt x="0" y="2169051"/>
                  </a:lnTo>
                  <a:close/>
                </a:path>
              </a:pathLst>
            </a:custGeom>
            <a:ln w="190500" cap="sq">
              <a:solidFill>
                <a:srgbClr val="2D3E56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7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SEMINAR PROPOSAL</a:t>
            </a:r>
          </a:p>
        </p:txBody>
      </p:sp>
      <p:sp>
        <p:nvSpPr>
          <p:cNvPr id="7" name="AutoShape 7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8641" y="3254508"/>
            <a:ext cx="2699541" cy="3777984"/>
          </a:xfrm>
          <a:custGeom>
            <a:avLst/>
            <a:gdLst/>
            <a:ahLst/>
            <a:cxnLst/>
            <a:rect l="l" t="t" r="r" b="b"/>
            <a:pathLst>
              <a:path w="2699541" h="3777984">
                <a:moveTo>
                  <a:pt x="0" y="0"/>
                </a:moveTo>
                <a:lnTo>
                  <a:pt x="2699542" y="0"/>
                </a:lnTo>
                <a:lnTo>
                  <a:pt x="2699542" y="3777984"/>
                </a:lnTo>
                <a:lnTo>
                  <a:pt x="0" y="3777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59943" y="2908535"/>
            <a:ext cx="537514" cy="537514"/>
          </a:xfrm>
          <a:custGeom>
            <a:avLst/>
            <a:gdLst/>
            <a:ahLst/>
            <a:cxnLst/>
            <a:rect l="l" t="t" r="r" b="b"/>
            <a:pathLst>
              <a:path w="537514" h="537514">
                <a:moveTo>
                  <a:pt x="0" y="0"/>
                </a:moveTo>
                <a:lnTo>
                  <a:pt x="537515" y="0"/>
                </a:lnTo>
                <a:lnTo>
                  <a:pt x="537515" y="537515"/>
                </a:lnTo>
                <a:lnTo>
                  <a:pt x="0" y="537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73197" y="6665988"/>
            <a:ext cx="537514" cy="537514"/>
          </a:xfrm>
          <a:custGeom>
            <a:avLst/>
            <a:gdLst/>
            <a:ahLst/>
            <a:cxnLst/>
            <a:rect l="l" t="t" r="r" b="b"/>
            <a:pathLst>
              <a:path w="537514" h="537514">
                <a:moveTo>
                  <a:pt x="0" y="0"/>
                </a:moveTo>
                <a:lnTo>
                  <a:pt x="537515" y="0"/>
                </a:lnTo>
                <a:lnTo>
                  <a:pt x="537515" y="537515"/>
                </a:lnTo>
                <a:lnTo>
                  <a:pt x="0" y="537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048823" y="1365304"/>
            <a:ext cx="10204523" cy="7508958"/>
            <a:chOff x="0" y="0"/>
            <a:chExt cx="2687611" cy="19776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87611" cy="1977668"/>
            </a:xfrm>
            <a:custGeom>
              <a:avLst/>
              <a:gdLst/>
              <a:ahLst/>
              <a:cxnLst/>
              <a:rect l="l" t="t" r="r" b="b"/>
              <a:pathLst>
                <a:path w="2687611" h="1977668">
                  <a:moveTo>
                    <a:pt x="0" y="0"/>
                  </a:moveTo>
                  <a:lnTo>
                    <a:pt x="2687611" y="0"/>
                  </a:lnTo>
                  <a:lnTo>
                    <a:pt x="2687611" y="1977668"/>
                  </a:lnTo>
                  <a:lnTo>
                    <a:pt x="0" y="1977668"/>
                  </a:lnTo>
                  <a:close/>
                </a:path>
              </a:pathLst>
            </a:custGeom>
            <a:solidFill>
              <a:srgbClr val="2D3E56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87611" cy="2015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10294" y="2021916"/>
            <a:ext cx="8681582" cy="6083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1.Perkembangan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teknologi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digital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mendorong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perubahan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pada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aktivitas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bisnis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ekonomi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2.Usaha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percetakan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masih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banyak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menggunakan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sistem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manual (nota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kertas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pencatatan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buku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).</a:t>
            </a: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3.Permasalahan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sistem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manual: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Risiko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hilang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atau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rusak</a:t>
            </a:r>
            <a:endParaRPr lang="en-US" sz="2000" dirty="0">
              <a:solidFill>
                <a:srgbClr val="FFFFF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Kesalahan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pencatatan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transaksi</a:t>
            </a:r>
            <a:endParaRPr lang="en-US" sz="2000" dirty="0">
              <a:solidFill>
                <a:srgbClr val="FFFFF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Laporan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penjualan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tidak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akurat</a:t>
            </a:r>
            <a:endParaRPr lang="en-US" sz="2000" dirty="0">
              <a:solidFill>
                <a:srgbClr val="FFFFF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Sulit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menganalisis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penjualan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 </a:t>
            </a: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4.Zimam Advertising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masih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menerapkan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pencatatan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manual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transaksi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pesanan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5.Dibutuhkan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sistem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terintegrasi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untuk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kasir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pemesanan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laporan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penjualan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6.Aplikasi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berbasis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web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dengan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framework Laravel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dipilih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karena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aman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fleksibel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, dan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mudah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dikembangkan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7.Metode Agile Development(Scrum)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cocok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karena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mendukung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perubahan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kebutuhan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pengguna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secara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cepat</a:t>
            </a:r>
            <a:r>
              <a:rPr lang="en-US" sz="2000" dirty="0">
                <a:solidFill>
                  <a:srgbClr val="FFFFFF"/>
                </a:solidFill>
                <a:latin typeface="Coco Gothic"/>
                <a:ea typeface="Coco Gothic"/>
                <a:cs typeface="Coco Gothic"/>
                <a:sym typeface="Coco Gothic"/>
              </a:rPr>
              <a:t>.</a:t>
            </a:r>
          </a:p>
        </p:txBody>
      </p:sp>
      <p:sp>
        <p:nvSpPr>
          <p:cNvPr id="16" name="Freeform 16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134" y="4243463"/>
            <a:ext cx="5003213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LATAR BELAKANG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388" y="4506860"/>
            <a:ext cx="15588341" cy="4751440"/>
            <a:chOff x="0" y="0"/>
            <a:chExt cx="4105571" cy="12514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05571" cy="1251408"/>
            </a:xfrm>
            <a:custGeom>
              <a:avLst/>
              <a:gdLst/>
              <a:ahLst/>
              <a:cxnLst/>
              <a:rect l="l" t="t" r="r" b="b"/>
              <a:pathLst>
                <a:path w="4105571" h="1251408">
                  <a:moveTo>
                    <a:pt x="0" y="0"/>
                  </a:moveTo>
                  <a:lnTo>
                    <a:pt x="4105571" y="0"/>
                  </a:lnTo>
                  <a:lnTo>
                    <a:pt x="4105571" y="1251408"/>
                  </a:lnTo>
                  <a:lnTo>
                    <a:pt x="0" y="1251408"/>
                  </a:lnTo>
                  <a:close/>
                </a:path>
              </a:pathLst>
            </a:custGeom>
            <a:solidFill>
              <a:srgbClr val="2D3E56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05571" cy="128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5853" y="-520998"/>
            <a:ext cx="6656294" cy="4114800"/>
          </a:xfrm>
          <a:custGeom>
            <a:avLst/>
            <a:gdLst/>
            <a:ahLst/>
            <a:cxnLst/>
            <a:rect l="l" t="t" r="r" b="b"/>
            <a:pathLst>
              <a:path w="6656294" h="4114800">
                <a:moveTo>
                  <a:pt x="0" y="0"/>
                </a:moveTo>
                <a:lnTo>
                  <a:pt x="6656294" y="0"/>
                </a:lnTo>
                <a:lnTo>
                  <a:pt x="66562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44128" y="2408892"/>
            <a:ext cx="16230600" cy="4898214"/>
            <a:chOff x="0" y="0"/>
            <a:chExt cx="4274726" cy="12900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1290065"/>
            </a:xfrm>
            <a:custGeom>
              <a:avLst/>
              <a:gdLst/>
              <a:ahLst/>
              <a:cxnLst/>
              <a:rect l="l" t="t" r="r" b="b"/>
              <a:pathLst>
                <a:path w="4274726" h="1290065">
                  <a:moveTo>
                    <a:pt x="0" y="0"/>
                  </a:moveTo>
                  <a:lnTo>
                    <a:pt x="4274726" y="0"/>
                  </a:lnTo>
                  <a:lnTo>
                    <a:pt x="4274726" y="1290065"/>
                  </a:lnTo>
                  <a:lnTo>
                    <a:pt x="0" y="1290065"/>
                  </a:lnTo>
                  <a:close/>
                </a:path>
              </a:pathLst>
            </a:custGeom>
            <a:ln w="190500" cap="sq">
              <a:solidFill>
                <a:srgbClr val="2D3E56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1328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273889" y="-237848"/>
            <a:ext cx="5740221" cy="3548500"/>
          </a:xfrm>
          <a:custGeom>
            <a:avLst/>
            <a:gdLst/>
            <a:ahLst/>
            <a:cxnLst/>
            <a:rect l="l" t="t" r="r" b="b"/>
            <a:pathLst>
              <a:path w="5740221" h="3548500">
                <a:moveTo>
                  <a:pt x="0" y="0"/>
                </a:moveTo>
                <a:lnTo>
                  <a:pt x="5740222" y="0"/>
                </a:lnTo>
                <a:lnTo>
                  <a:pt x="5740222" y="3548500"/>
                </a:lnTo>
                <a:lnTo>
                  <a:pt x="0" y="354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>
            <a:off x="15972129" y="4647597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9" y="0"/>
                </a:lnTo>
                <a:lnTo>
                  <a:pt x="4671449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2315871" y="4647597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9" y="0"/>
                </a:lnTo>
                <a:lnTo>
                  <a:pt x="4671449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95083" y="2161558"/>
            <a:ext cx="529672" cy="529672"/>
          </a:xfrm>
          <a:custGeom>
            <a:avLst/>
            <a:gdLst/>
            <a:ahLst/>
            <a:cxnLst/>
            <a:rect l="l" t="t" r="r" b="b"/>
            <a:pathLst>
              <a:path w="529672" h="529672">
                <a:moveTo>
                  <a:pt x="0" y="0"/>
                </a:moveTo>
                <a:lnTo>
                  <a:pt x="529673" y="0"/>
                </a:lnTo>
                <a:lnTo>
                  <a:pt x="529673" y="529673"/>
                </a:lnTo>
                <a:lnTo>
                  <a:pt x="0" y="529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SEMINAR PROPOSAL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874907" y="5910106"/>
            <a:ext cx="2940769" cy="2790190"/>
            <a:chOff x="0" y="0"/>
            <a:chExt cx="3921025" cy="372025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32012"/>
              <a:ext cx="3921025" cy="3288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merancang dan mengimplementasikan aplikasi kasir dan manajemen pemesanan berbasis web menggunakan Laravel?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173280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Satu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922857" y="5910106"/>
            <a:ext cx="2940769" cy="1732915"/>
            <a:chOff x="0" y="0"/>
            <a:chExt cx="3921025" cy="231055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32012"/>
              <a:ext cx="3921025" cy="187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dashboard analitik menampilkan performa penjualan dan bisnis?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371022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Tiga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20197" y="5912011"/>
            <a:ext cx="2940769" cy="2437765"/>
            <a:chOff x="0" y="0"/>
            <a:chExt cx="3921025" cy="325035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32012"/>
              <a:ext cx="3921025" cy="2818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mengintegrasikan berbagai metode pembayaran (cash, transfer, QRIS, e-wallet)?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3371022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Dua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120197" y="4677593"/>
            <a:ext cx="1604558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22857" y="4753224"/>
            <a:ext cx="1335670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74907" y="4677593"/>
            <a:ext cx="1335670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59672" y="1593552"/>
            <a:ext cx="5168655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RUMUSAN MASALAH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728327" y="2161558"/>
            <a:ext cx="529672" cy="529672"/>
          </a:xfrm>
          <a:custGeom>
            <a:avLst/>
            <a:gdLst/>
            <a:ahLst/>
            <a:cxnLst/>
            <a:rect l="l" t="t" r="r" b="b"/>
            <a:pathLst>
              <a:path w="529672" h="529672">
                <a:moveTo>
                  <a:pt x="0" y="0"/>
                </a:moveTo>
                <a:lnTo>
                  <a:pt x="529672" y="0"/>
                </a:lnTo>
                <a:lnTo>
                  <a:pt x="529672" y="529673"/>
                </a:lnTo>
                <a:lnTo>
                  <a:pt x="0" y="529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AutoShape 29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11163527" y="4753224"/>
            <a:ext cx="1335670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168426" y="5910106"/>
            <a:ext cx="2940769" cy="1732915"/>
            <a:chOff x="0" y="0"/>
            <a:chExt cx="3921025" cy="2310553"/>
          </a:xfrm>
        </p:grpSpPr>
        <p:sp>
          <p:nvSpPr>
            <p:cNvPr id="32" name="TextBox 32"/>
            <p:cNvSpPr txBox="1"/>
            <p:nvPr/>
          </p:nvSpPr>
          <p:spPr>
            <a:xfrm>
              <a:off x="0" y="432012"/>
              <a:ext cx="3921025" cy="187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sistem pemesanan dan pelacakan pesanan online diterapkan?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3371022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Empat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970806" y="4753224"/>
            <a:ext cx="1335670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970806" y="5912011"/>
            <a:ext cx="2940769" cy="1732915"/>
            <a:chOff x="0" y="0"/>
            <a:chExt cx="3921025" cy="2310553"/>
          </a:xfrm>
        </p:grpSpPr>
        <p:sp>
          <p:nvSpPr>
            <p:cNvPr id="36" name="TextBox 36"/>
            <p:cNvSpPr txBox="1"/>
            <p:nvPr/>
          </p:nvSpPr>
          <p:spPr>
            <a:xfrm>
              <a:off x="0" y="432012"/>
              <a:ext cx="3921025" cy="187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oco Gothic"/>
                  <a:ea typeface="Coco Gothic"/>
                  <a:cs typeface="Coco Gothic"/>
                  <a:sym typeface="Coco Gothic"/>
                </a:rPr>
                <a:t>Bagaimana hasil pengujian sistem menggunakan Black Box Testing dan UAT?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3371022" cy="449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Rumusan Lima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9544784" y="4750305"/>
            <a:ext cx="7315200" cy="4037990"/>
          </a:xfrm>
          <a:custGeom>
            <a:avLst/>
            <a:gdLst/>
            <a:ahLst/>
            <a:cxnLst/>
            <a:rect l="l" t="t" r="r" b="b"/>
            <a:pathLst>
              <a:path w="7315200" h="4037990">
                <a:moveTo>
                  <a:pt x="0" y="0"/>
                </a:moveTo>
                <a:lnTo>
                  <a:pt x="7315200" y="0"/>
                </a:lnTo>
                <a:lnTo>
                  <a:pt x="7315200" y="4037990"/>
                </a:lnTo>
                <a:lnTo>
                  <a:pt x="0" y="4037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AutoShape 17">
            <a:extLst>
              <a:ext uri="{FF2B5EF4-FFF2-40B4-BE49-F238E27FC236}">
                <a16:creationId xmlns:a16="http://schemas.microsoft.com/office/drawing/2014/main" id="{09693B9A-985C-4525-2C0A-521FC52AE07B}"/>
              </a:ext>
            </a:extLst>
          </p:cNvPr>
          <p:cNvSpPr/>
          <p:nvPr/>
        </p:nvSpPr>
        <p:spPr>
          <a:xfrm>
            <a:off x="16078200" y="1513169"/>
            <a:ext cx="76200" cy="4023527"/>
          </a:xfrm>
          <a:prstGeom prst="line">
            <a:avLst/>
          </a:prstGeom>
          <a:ln w="1905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" name="Group 2"/>
          <p:cNvGrpSpPr/>
          <p:nvPr/>
        </p:nvGrpSpPr>
        <p:grpSpPr>
          <a:xfrm>
            <a:off x="14007896" y="9303132"/>
            <a:ext cx="3245450" cy="374650"/>
            <a:chOff x="0" y="0"/>
            <a:chExt cx="4327267" cy="499533"/>
          </a:xfrm>
        </p:grpSpPr>
        <p:sp>
          <p:nvSpPr>
            <p:cNvPr id="3" name="TextBox 3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SEMINAR PROPOSAL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05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94542" y="1028700"/>
            <a:ext cx="7391184" cy="12318641"/>
          </a:xfrm>
          <a:custGeom>
            <a:avLst/>
            <a:gdLst/>
            <a:ahLst/>
            <a:cxnLst/>
            <a:rect l="l" t="t" r="r" b="b"/>
            <a:pathLst>
              <a:path w="7391184" h="12318641">
                <a:moveTo>
                  <a:pt x="0" y="0"/>
                </a:moveTo>
                <a:lnTo>
                  <a:pt x="7391184" y="0"/>
                </a:lnTo>
                <a:lnTo>
                  <a:pt x="7391184" y="12318641"/>
                </a:lnTo>
                <a:lnTo>
                  <a:pt x="0" y="12318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79017" y="1281019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3926" y="2192645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Sistem berbasis web menggunakan framework Laravel dan database MySQL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9017" y="2930749"/>
            <a:ext cx="3257656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9017" y="3842375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Metode pengembangan menggunakan Agile Development (Scrum)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63926" y="4501317"/>
            <a:ext cx="3135345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63926" y="5391814"/>
            <a:ext cx="6515313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Fitur sistem mencakup Point of Sale (Kasir), manajemen pemesanan percetakan, integrasi pembayaran (cash, transfer bank, QRIS, dan e-wallet), dashboard analitik penjualan, serta pemesanan dan pelacakan pesanan online.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845153" y="5143500"/>
            <a:ext cx="629978" cy="629978"/>
          </a:xfrm>
          <a:custGeom>
            <a:avLst/>
            <a:gdLst/>
            <a:ahLst/>
            <a:cxnLst/>
            <a:rect l="l" t="t" r="r" b="b"/>
            <a:pathLst>
              <a:path w="629978" h="629978">
                <a:moveTo>
                  <a:pt x="0" y="0"/>
                </a:moveTo>
                <a:lnTo>
                  <a:pt x="629978" y="0"/>
                </a:lnTo>
                <a:lnTo>
                  <a:pt x="629978" y="629978"/>
                </a:lnTo>
                <a:lnTo>
                  <a:pt x="0" y="629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980205" y="948925"/>
            <a:ext cx="913800" cy="913800"/>
          </a:xfrm>
          <a:custGeom>
            <a:avLst/>
            <a:gdLst/>
            <a:ahLst/>
            <a:cxnLst/>
            <a:rect l="l" t="t" r="r" b="b"/>
            <a:pathLst>
              <a:path w="913800" h="913800">
                <a:moveTo>
                  <a:pt x="0" y="0"/>
                </a:moveTo>
                <a:lnTo>
                  <a:pt x="913800" y="0"/>
                </a:lnTo>
                <a:lnTo>
                  <a:pt x="913800" y="913800"/>
                </a:lnTo>
                <a:lnTo>
                  <a:pt x="0" y="913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>
            <a:off x="8394329" y="1360771"/>
            <a:ext cx="8297359" cy="137934"/>
          </a:xfrm>
          <a:prstGeom prst="line">
            <a:avLst/>
          </a:prstGeom>
          <a:ln w="1905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0823583" y="986668"/>
            <a:ext cx="6036401" cy="2342660"/>
            <a:chOff x="0" y="0"/>
            <a:chExt cx="1589834" cy="6169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89834" cy="616997"/>
            </a:xfrm>
            <a:custGeom>
              <a:avLst/>
              <a:gdLst/>
              <a:ahLst/>
              <a:cxnLst/>
              <a:rect l="l" t="t" r="r" b="b"/>
              <a:pathLst>
                <a:path w="1589834" h="616997">
                  <a:moveTo>
                    <a:pt x="0" y="0"/>
                  </a:moveTo>
                  <a:lnTo>
                    <a:pt x="1589834" y="0"/>
                  </a:lnTo>
                  <a:lnTo>
                    <a:pt x="1589834" y="616997"/>
                  </a:lnTo>
                  <a:lnTo>
                    <a:pt x="0" y="616997"/>
                  </a:lnTo>
                  <a:close/>
                </a:path>
              </a:pathLst>
            </a:custGeom>
            <a:solidFill>
              <a:srgbClr val="2D3E5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89834" cy="65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126663" y="1442944"/>
            <a:ext cx="6348468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BATASAN</a:t>
            </a:r>
          </a:p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MASALAH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1879017" y="7188864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107" y="8067571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Pengujian menggunakan Black Box Testing dan User Acceptance Testing (UAT)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76376" y="5668703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76376" y="6580329"/>
            <a:ext cx="651531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Sistem diterapkan pada usaha Zimam Advertising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394542" y="5143500"/>
            <a:ext cx="7315200" cy="4037990"/>
          </a:xfrm>
          <a:custGeom>
            <a:avLst/>
            <a:gdLst/>
            <a:ahLst/>
            <a:cxnLst/>
            <a:rect l="l" t="t" r="r" b="b"/>
            <a:pathLst>
              <a:path w="7315200" h="4037990">
                <a:moveTo>
                  <a:pt x="0" y="0"/>
                </a:moveTo>
                <a:lnTo>
                  <a:pt x="7315200" y="0"/>
                </a:lnTo>
                <a:lnTo>
                  <a:pt x="7315200" y="4037990"/>
                </a:lnTo>
                <a:lnTo>
                  <a:pt x="0" y="4037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AutoShape 11">
            <a:extLst>
              <a:ext uri="{FF2B5EF4-FFF2-40B4-BE49-F238E27FC236}">
                <a16:creationId xmlns:a16="http://schemas.microsoft.com/office/drawing/2014/main" id="{D6F1BE04-92FE-1F27-3331-2ABF04BD44CB}"/>
              </a:ext>
            </a:extLst>
          </p:cNvPr>
          <p:cNvSpPr/>
          <p:nvPr/>
        </p:nvSpPr>
        <p:spPr>
          <a:xfrm flipH="1" flipV="1">
            <a:off x="2068926" y="2220254"/>
            <a:ext cx="0" cy="3362885"/>
          </a:xfrm>
          <a:prstGeom prst="line">
            <a:avLst/>
          </a:prstGeom>
          <a:ln w="1905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" name="Freeform 2"/>
          <p:cNvSpPr/>
          <p:nvPr/>
        </p:nvSpPr>
        <p:spPr>
          <a:xfrm>
            <a:off x="9614617" y="1028700"/>
            <a:ext cx="7391184" cy="12318641"/>
          </a:xfrm>
          <a:custGeom>
            <a:avLst/>
            <a:gdLst/>
            <a:ahLst/>
            <a:cxnLst/>
            <a:rect l="l" t="t" r="r" b="b"/>
            <a:pathLst>
              <a:path w="7391184" h="12318641">
                <a:moveTo>
                  <a:pt x="0" y="0"/>
                </a:moveTo>
                <a:lnTo>
                  <a:pt x="7391184" y="0"/>
                </a:lnTo>
                <a:lnTo>
                  <a:pt x="7391184" y="12318641"/>
                </a:lnTo>
                <a:lnTo>
                  <a:pt x="0" y="12318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94542" y="9435392"/>
            <a:ext cx="3245450" cy="374650"/>
            <a:chOff x="0" y="0"/>
            <a:chExt cx="4327267" cy="499533"/>
          </a:xfrm>
        </p:grpSpPr>
        <p:sp>
          <p:nvSpPr>
            <p:cNvPr id="4" name="TextBox 4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SEMINAR PROPOSAL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06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53937" y="5466936"/>
            <a:ext cx="629978" cy="629978"/>
          </a:xfrm>
          <a:custGeom>
            <a:avLst/>
            <a:gdLst/>
            <a:ahLst/>
            <a:cxnLst/>
            <a:rect l="l" t="t" r="r" b="b"/>
            <a:pathLst>
              <a:path w="629978" h="629978">
                <a:moveTo>
                  <a:pt x="0" y="0"/>
                </a:moveTo>
                <a:lnTo>
                  <a:pt x="629978" y="0"/>
                </a:lnTo>
                <a:lnTo>
                  <a:pt x="629978" y="629979"/>
                </a:lnTo>
                <a:lnTo>
                  <a:pt x="0" y="629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329628" y="1614190"/>
            <a:ext cx="913800" cy="913800"/>
          </a:xfrm>
          <a:custGeom>
            <a:avLst/>
            <a:gdLst/>
            <a:ahLst/>
            <a:cxnLst/>
            <a:rect l="l" t="t" r="r" b="b"/>
            <a:pathLst>
              <a:path w="913800" h="913800">
                <a:moveTo>
                  <a:pt x="0" y="0"/>
                </a:moveTo>
                <a:lnTo>
                  <a:pt x="913800" y="0"/>
                </a:lnTo>
                <a:lnTo>
                  <a:pt x="913800" y="913800"/>
                </a:lnTo>
                <a:lnTo>
                  <a:pt x="0" y="913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flipH="1" flipV="1">
            <a:off x="1880938" y="2022567"/>
            <a:ext cx="8905590" cy="48524"/>
          </a:xfrm>
          <a:prstGeom prst="line">
            <a:avLst/>
          </a:prstGeom>
          <a:ln w="1905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394542" y="1028700"/>
            <a:ext cx="6036401" cy="2342660"/>
            <a:chOff x="0" y="0"/>
            <a:chExt cx="1589834" cy="6169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89834" cy="616997"/>
            </a:xfrm>
            <a:custGeom>
              <a:avLst/>
              <a:gdLst/>
              <a:ahLst/>
              <a:cxnLst/>
              <a:rect l="l" t="t" r="r" b="b"/>
              <a:pathLst>
                <a:path w="1589834" h="616997">
                  <a:moveTo>
                    <a:pt x="0" y="0"/>
                  </a:moveTo>
                  <a:lnTo>
                    <a:pt x="1589834" y="0"/>
                  </a:lnTo>
                  <a:lnTo>
                    <a:pt x="1589834" y="616997"/>
                  </a:lnTo>
                  <a:lnTo>
                    <a:pt x="0" y="616997"/>
                  </a:lnTo>
                  <a:close/>
                </a:path>
              </a:pathLst>
            </a:custGeom>
            <a:solidFill>
              <a:srgbClr val="2D3E5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89834" cy="65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4024811" y="9411015"/>
            <a:ext cx="0" cy="423404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689849" y="1384690"/>
            <a:ext cx="6348468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TUJUAN</a:t>
            </a:r>
          </a:p>
          <a:p>
            <a:pPr algn="just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PENELITIAN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80938" y="6209720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80938" y="7121345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Merancang dan membangun aplikasi kasir dan manajemen pemesanan berbasis web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9628" y="2423215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29628" y="3334840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Mengintegrasikan sistem dengan berbagai metode pembayaran digital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29628" y="3950790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29628" y="4862415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Mengembangkan dashboard analitik penjualan secara real-time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29628" y="5478365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29628" y="6389991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Mengimplementasikan pemesanan jarak jauh dan pelacakan pesanan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29628" y="7005940"/>
            <a:ext cx="2272659" cy="97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7"/>
              </a:lnSpc>
            </a:pPr>
            <a:r>
              <a:rPr lang="en-US" sz="573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29628" y="7917566"/>
            <a:ext cx="651531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Menguji sistem menggunakan Black Box Testing dan UAT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4215" y="2167922"/>
            <a:ext cx="8385238" cy="8221948"/>
            <a:chOff x="0" y="0"/>
            <a:chExt cx="6267323" cy="6145276"/>
          </a:xfrm>
        </p:grpSpPr>
        <p:sp>
          <p:nvSpPr>
            <p:cNvPr id="3" name="Freeform 3"/>
            <p:cNvSpPr/>
            <p:nvPr/>
          </p:nvSpPr>
          <p:spPr>
            <a:xfrm>
              <a:off x="0" y="-44"/>
              <a:ext cx="6267334" cy="6145193"/>
            </a:xfrm>
            <a:custGeom>
              <a:avLst/>
              <a:gdLst/>
              <a:ahLst/>
              <a:cxnLst/>
              <a:rect l="l" t="t" r="r" b="b"/>
              <a:pathLst>
                <a:path w="6267334" h="6145193">
                  <a:moveTo>
                    <a:pt x="6064631" y="1265091"/>
                  </a:moveTo>
                  <a:cubicBezTo>
                    <a:pt x="6221603" y="1299254"/>
                    <a:pt x="6305296" y="1450765"/>
                    <a:pt x="6250559" y="1601895"/>
                  </a:cubicBezTo>
                  <a:lnTo>
                    <a:pt x="4703953" y="5870619"/>
                  </a:lnTo>
                  <a:cubicBezTo>
                    <a:pt x="4649216" y="6021622"/>
                    <a:pt x="4473067" y="6145193"/>
                    <a:pt x="4312412" y="6145193"/>
                  </a:cubicBezTo>
                  <a:lnTo>
                    <a:pt x="292100" y="6145193"/>
                  </a:lnTo>
                  <a:cubicBezTo>
                    <a:pt x="131445" y="6145193"/>
                    <a:pt x="0" y="6013748"/>
                    <a:pt x="0" y="5853093"/>
                  </a:cubicBezTo>
                  <a:lnTo>
                    <a:pt x="0" y="236518"/>
                  </a:lnTo>
                  <a:cubicBezTo>
                    <a:pt x="0" y="75863"/>
                    <a:pt x="128397" y="-27642"/>
                    <a:pt x="285369" y="6521"/>
                  </a:cubicBezTo>
                  <a:lnTo>
                    <a:pt x="6064631" y="1265091"/>
                  </a:lnTo>
                  <a:close/>
                </a:path>
              </a:pathLst>
            </a:custGeom>
            <a:blipFill>
              <a:blip r:embed="rId2"/>
              <a:stretch>
                <a:fillRect l="-34743" r="-13411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5400000">
            <a:off x="15952276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-2335724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82217" y="-2903283"/>
            <a:ext cx="5071205" cy="5071205"/>
          </a:xfrm>
          <a:custGeom>
            <a:avLst/>
            <a:gdLst/>
            <a:ahLst/>
            <a:cxnLst/>
            <a:rect l="l" t="t" r="r" b="b"/>
            <a:pathLst>
              <a:path w="5071205" h="5071205">
                <a:moveTo>
                  <a:pt x="0" y="0"/>
                </a:moveTo>
                <a:lnTo>
                  <a:pt x="5071206" y="0"/>
                </a:lnTo>
                <a:lnTo>
                  <a:pt x="5071206" y="5071205"/>
                </a:lnTo>
                <a:lnTo>
                  <a:pt x="0" y="50712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828885" y="8056053"/>
            <a:ext cx="1625539" cy="1625539"/>
          </a:xfrm>
          <a:custGeom>
            <a:avLst/>
            <a:gdLst/>
            <a:ahLst/>
            <a:cxnLst/>
            <a:rect l="l" t="t" r="r" b="b"/>
            <a:pathLst>
              <a:path w="1625539" h="1625539">
                <a:moveTo>
                  <a:pt x="0" y="0"/>
                </a:moveTo>
                <a:lnTo>
                  <a:pt x="1625539" y="0"/>
                </a:lnTo>
                <a:lnTo>
                  <a:pt x="1625539" y="1625539"/>
                </a:lnTo>
                <a:lnTo>
                  <a:pt x="0" y="1625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SEMINAR PROPOSAL</a:t>
            </a:r>
          </a:p>
        </p:txBody>
      </p:sp>
      <p:sp>
        <p:nvSpPr>
          <p:cNvPr id="9" name="Freeform 9"/>
          <p:cNvSpPr/>
          <p:nvPr/>
        </p:nvSpPr>
        <p:spPr>
          <a:xfrm>
            <a:off x="1394542" y="2101281"/>
            <a:ext cx="1040063" cy="1040063"/>
          </a:xfrm>
          <a:custGeom>
            <a:avLst/>
            <a:gdLst/>
            <a:ahLst/>
            <a:cxnLst/>
            <a:rect l="l" t="t" r="r" b="b"/>
            <a:pathLst>
              <a:path w="1040063" h="1040063">
                <a:moveTo>
                  <a:pt x="0" y="0"/>
                </a:moveTo>
                <a:lnTo>
                  <a:pt x="1040063" y="0"/>
                </a:lnTo>
                <a:lnTo>
                  <a:pt x="1040063" y="1040063"/>
                </a:lnTo>
                <a:lnTo>
                  <a:pt x="0" y="10400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2531067" y="1771682"/>
            <a:ext cx="13078155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MANFAAT PENELITIAN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07072" y="3581538"/>
            <a:ext cx="6560476" cy="46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1.Bagi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Pemilik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Usaha</a:t>
            </a: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Mempermudah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pengelolaan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transaksi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pesanan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, dan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laporan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penjualan</a:t>
            </a:r>
            <a:endParaRPr lang="en-US" sz="2000" dirty="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2.Bagi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Pelanggan</a:t>
            </a:r>
            <a:endParaRPr lang="en-US" sz="2000" dirty="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Kemudahan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pemesanan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pelacakan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pesanan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secara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online</a:t>
            </a: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3.Bagi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Akademisi</a:t>
            </a:r>
            <a:endParaRPr lang="en-US" sz="2000" dirty="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Referensi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penelitian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berbasis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Laravel dan Agile</a:t>
            </a:r>
          </a:p>
          <a:p>
            <a:pPr marL="215901" lvl="1" algn="just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4.Bagi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Pengembang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Sistem</a:t>
            </a:r>
            <a:endParaRPr lang="en-US" sz="2000" dirty="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431802" lvl="1" indent="-215901" algn="just">
              <a:lnSpc>
                <a:spcPts val="2800"/>
              </a:lnSpc>
              <a:buFont typeface="Arial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Acuan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penerapan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Agile,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pembayaran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digital, dan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analitik</a:t>
            </a:r>
            <a:r>
              <a:rPr lang="en-US" sz="2000" dirty="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penjualan</a:t>
            </a:r>
            <a:endParaRPr lang="en-US" sz="2000" dirty="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just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SEMINAR PROPOSAL</a:t>
            </a:r>
          </a:p>
        </p:txBody>
      </p:sp>
      <p:sp>
        <p:nvSpPr>
          <p:cNvPr id="5" name="AutoShape 5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090355" y="2359638"/>
            <a:ext cx="14107290" cy="5567725"/>
          </a:xfrm>
          <a:custGeom>
            <a:avLst/>
            <a:gdLst/>
            <a:ahLst/>
            <a:cxnLst/>
            <a:rect l="l" t="t" r="r" b="b"/>
            <a:pathLst>
              <a:path w="14107290" h="5567725">
                <a:moveTo>
                  <a:pt x="0" y="0"/>
                </a:moveTo>
                <a:lnTo>
                  <a:pt x="14107290" y="0"/>
                </a:lnTo>
                <a:lnTo>
                  <a:pt x="14107290" y="5567724"/>
                </a:lnTo>
                <a:lnTo>
                  <a:pt x="0" y="5567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51914" y="632460"/>
            <a:ext cx="8984172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TINJAUAN PUSTAKA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952276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2335724" y="5227703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1"/>
                </a:lnTo>
                <a:lnTo>
                  <a:pt x="0" y="98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82217" y="-2903283"/>
            <a:ext cx="5071205" cy="5071205"/>
          </a:xfrm>
          <a:custGeom>
            <a:avLst/>
            <a:gdLst/>
            <a:ahLst/>
            <a:cxnLst/>
            <a:rect l="l" t="t" r="r" b="b"/>
            <a:pathLst>
              <a:path w="5071205" h="5071205">
                <a:moveTo>
                  <a:pt x="0" y="0"/>
                </a:moveTo>
                <a:lnTo>
                  <a:pt x="5071206" y="0"/>
                </a:lnTo>
                <a:lnTo>
                  <a:pt x="5071206" y="5071205"/>
                </a:lnTo>
                <a:lnTo>
                  <a:pt x="0" y="5071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21204" y="7997178"/>
            <a:ext cx="1625539" cy="1625539"/>
          </a:xfrm>
          <a:custGeom>
            <a:avLst/>
            <a:gdLst/>
            <a:ahLst/>
            <a:cxnLst/>
            <a:rect l="l" t="t" r="r" b="b"/>
            <a:pathLst>
              <a:path w="1625539" h="1625539">
                <a:moveTo>
                  <a:pt x="0" y="0"/>
                </a:moveTo>
                <a:lnTo>
                  <a:pt x="1625539" y="0"/>
                </a:lnTo>
                <a:lnTo>
                  <a:pt x="1625539" y="1625539"/>
                </a:lnTo>
                <a:lnTo>
                  <a:pt x="0" y="16255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007896" y="9323181"/>
            <a:ext cx="2619848" cy="30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6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SEMINAR PROPOSAL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786747"/>
            <a:ext cx="1040063" cy="1040063"/>
          </a:xfrm>
          <a:custGeom>
            <a:avLst/>
            <a:gdLst/>
            <a:ahLst/>
            <a:cxnLst/>
            <a:rect l="l" t="t" r="r" b="b"/>
            <a:pathLst>
              <a:path w="1040063" h="1040063">
                <a:moveTo>
                  <a:pt x="0" y="0"/>
                </a:moveTo>
                <a:lnTo>
                  <a:pt x="1040063" y="0"/>
                </a:lnTo>
                <a:lnTo>
                  <a:pt x="1040063" y="1040063"/>
                </a:lnTo>
                <a:lnTo>
                  <a:pt x="0" y="1040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6627744" y="9318242"/>
            <a:ext cx="0" cy="304475"/>
          </a:xfrm>
          <a:prstGeom prst="line">
            <a:avLst/>
          </a:prstGeom>
          <a:ln w="38100" cap="flat">
            <a:solidFill>
              <a:srgbClr val="2D3E5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2093325" y="786747"/>
            <a:ext cx="5727879" cy="8835970"/>
          </a:xfrm>
          <a:custGeom>
            <a:avLst/>
            <a:gdLst/>
            <a:ahLst/>
            <a:cxnLst/>
            <a:rect l="l" t="t" r="r" b="b"/>
            <a:pathLst>
              <a:path w="5727879" h="8835970">
                <a:moveTo>
                  <a:pt x="0" y="0"/>
                </a:moveTo>
                <a:lnTo>
                  <a:pt x="5727879" y="0"/>
                </a:lnTo>
                <a:lnTo>
                  <a:pt x="5727879" y="8835970"/>
                </a:lnTo>
                <a:lnTo>
                  <a:pt x="0" y="8835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243140" y="4715748"/>
            <a:ext cx="13078155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METODOLOGI PENELITIAN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56111" y="9255507"/>
            <a:ext cx="59723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382761" y="1240218"/>
            <a:ext cx="12026918" cy="7806563"/>
          </a:xfrm>
          <a:custGeom>
            <a:avLst/>
            <a:gdLst/>
            <a:ahLst/>
            <a:cxnLst/>
            <a:rect l="l" t="t" r="r" b="b"/>
            <a:pathLst>
              <a:path w="12026918" h="7806563">
                <a:moveTo>
                  <a:pt x="0" y="0"/>
                </a:moveTo>
                <a:lnTo>
                  <a:pt x="12026919" y="0"/>
                </a:lnTo>
                <a:lnTo>
                  <a:pt x="12026919" y="7806564"/>
                </a:lnTo>
                <a:lnTo>
                  <a:pt x="0" y="7806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07896" y="9303132"/>
            <a:ext cx="3245450" cy="374650"/>
            <a:chOff x="0" y="0"/>
            <a:chExt cx="4327267" cy="499533"/>
          </a:xfrm>
        </p:grpSpPr>
        <p:sp>
          <p:nvSpPr>
            <p:cNvPr id="4" name="TextBox 4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SEMINAR PROPOSAL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10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3493131" y="20147"/>
              <a:ext cx="0" cy="405967"/>
            </a:xfrm>
            <a:prstGeom prst="line">
              <a:avLst/>
            </a:prstGeom>
            <a:ln w="50800" cap="flat">
              <a:solidFill>
                <a:srgbClr val="2D3E56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0309" y="3432372"/>
            <a:ext cx="63671" cy="3422255"/>
            <a:chOff x="0" y="0"/>
            <a:chExt cx="16769" cy="9013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769" cy="901335"/>
            </a:xfrm>
            <a:custGeom>
              <a:avLst/>
              <a:gdLst/>
              <a:ahLst/>
              <a:cxnLst/>
              <a:rect l="l" t="t" r="r" b="b"/>
              <a:pathLst>
                <a:path w="16769" h="901335">
                  <a:moveTo>
                    <a:pt x="0" y="0"/>
                  </a:moveTo>
                  <a:lnTo>
                    <a:pt x="16769" y="0"/>
                  </a:lnTo>
                  <a:lnTo>
                    <a:pt x="16769" y="901335"/>
                  </a:lnTo>
                  <a:lnTo>
                    <a:pt x="0" y="9013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769" cy="939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375332" y="1153477"/>
            <a:ext cx="9537337" cy="4374163"/>
          </a:xfrm>
          <a:custGeom>
            <a:avLst/>
            <a:gdLst/>
            <a:ahLst/>
            <a:cxnLst/>
            <a:rect l="l" t="t" r="r" b="b"/>
            <a:pathLst>
              <a:path w="9537337" h="4374163">
                <a:moveTo>
                  <a:pt x="0" y="0"/>
                </a:moveTo>
                <a:lnTo>
                  <a:pt x="9537336" y="0"/>
                </a:lnTo>
                <a:lnTo>
                  <a:pt x="9537336" y="4374164"/>
                </a:lnTo>
                <a:lnTo>
                  <a:pt x="0" y="43741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375332" y="5774338"/>
            <a:ext cx="9537337" cy="4374066"/>
          </a:xfrm>
          <a:custGeom>
            <a:avLst/>
            <a:gdLst/>
            <a:ahLst/>
            <a:cxnLst/>
            <a:rect l="l" t="t" r="r" b="b"/>
            <a:pathLst>
              <a:path w="9537337" h="4374066">
                <a:moveTo>
                  <a:pt x="0" y="0"/>
                </a:moveTo>
                <a:lnTo>
                  <a:pt x="9537336" y="0"/>
                </a:lnTo>
                <a:lnTo>
                  <a:pt x="9537336" y="4374066"/>
                </a:lnTo>
                <a:lnTo>
                  <a:pt x="0" y="43740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936723" y="57150"/>
            <a:ext cx="6096089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DESAIN OUTPUT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382761" y="1240218"/>
            <a:ext cx="12026918" cy="7806563"/>
          </a:xfrm>
          <a:custGeom>
            <a:avLst/>
            <a:gdLst/>
            <a:ahLst/>
            <a:cxnLst/>
            <a:rect l="l" t="t" r="r" b="b"/>
            <a:pathLst>
              <a:path w="12026918" h="7806563">
                <a:moveTo>
                  <a:pt x="0" y="0"/>
                </a:moveTo>
                <a:lnTo>
                  <a:pt x="12026919" y="0"/>
                </a:lnTo>
                <a:lnTo>
                  <a:pt x="12026919" y="7806564"/>
                </a:lnTo>
                <a:lnTo>
                  <a:pt x="0" y="7806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07896" y="9303132"/>
            <a:ext cx="3245450" cy="374650"/>
            <a:chOff x="0" y="0"/>
            <a:chExt cx="4327267" cy="499533"/>
          </a:xfrm>
        </p:grpSpPr>
        <p:sp>
          <p:nvSpPr>
            <p:cNvPr id="4" name="TextBox 4"/>
            <p:cNvSpPr txBox="1"/>
            <p:nvPr/>
          </p:nvSpPr>
          <p:spPr>
            <a:xfrm>
              <a:off x="0" y="39432"/>
              <a:ext cx="3493131" cy="387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6"/>
                </a:lnSpc>
              </a:pPr>
              <a:r>
                <a:rPr lang="en-US" sz="1726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SEMINAR PROPOSAL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0953" y="-47625"/>
              <a:ext cx="796314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11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3493131" y="20147"/>
              <a:ext cx="0" cy="405967"/>
            </a:xfrm>
            <a:prstGeom prst="line">
              <a:avLst/>
            </a:prstGeom>
            <a:ln w="50800" cap="flat">
              <a:solidFill>
                <a:srgbClr val="2D3E56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0309" y="3432372"/>
            <a:ext cx="63671" cy="3422255"/>
            <a:chOff x="0" y="0"/>
            <a:chExt cx="16769" cy="9013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769" cy="901335"/>
            </a:xfrm>
            <a:custGeom>
              <a:avLst/>
              <a:gdLst/>
              <a:ahLst/>
              <a:cxnLst/>
              <a:rect l="l" t="t" r="r" b="b"/>
              <a:pathLst>
                <a:path w="16769" h="901335">
                  <a:moveTo>
                    <a:pt x="0" y="0"/>
                  </a:moveTo>
                  <a:lnTo>
                    <a:pt x="16769" y="0"/>
                  </a:lnTo>
                  <a:lnTo>
                    <a:pt x="16769" y="901335"/>
                  </a:lnTo>
                  <a:lnTo>
                    <a:pt x="0" y="9013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769" cy="939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5952276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2335724" y="4650875"/>
            <a:ext cx="4671449" cy="985251"/>
          </a:xfrm>
          <a:custGeom>
            <a:avLst/>
            <a:gdLst/>
            <a:ahLst/>
            <a:cxnLst/>
            <a:rect l="l" t="t" r="r" b="b"/>
            <a:pathLst>
              <a:path w="4671449" h="985251">
                <a:moveTo>
                  <a:pt x="0" y="0"/>
                </a:moveTo>
                <a:lnTo>
                  <a:pt x="4671448" y="0"/>
                </a:lnTo>
                <a:lnTo>
                  <a:pt x="4671448" y="985250"/>
                </a:lnTo>
                <a:lnTo>
                  <a:pt x="0" y="9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375332" y="1172107"/>
            <a:ext cx="9537337" cy="4333937"/>
          </a:xfrm>
          <a:custGeom>
            <a:avLst/>
            <a:gdLst/>
            <a:ahLst/>
            <a:cxnLst/>
            <a:rect l="l" t="t" r="r" b="b"/>
            <a:pathLst>
              <a:path w="9537337" h="4333937">
                <a:moveTo>
                  <a:pt x="0" y="0"/>
                </a:moveTo>
                <a:lnTo>
                  <a:pt x="9537336" y="0"/>
                </a:lnTo>
                <a:lnTo>
                  <a:pt x="9537336" y="4333936"/>
                </a:lnTo>
                <a:lnTo>
                  <a:pt x="0" y="4333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375332" y="5772743"/>
            <a:ext cx="9537337" cy="4374066"/>
          </a:xfrm>
          <a:custGeom>
            <a:avLst/>
            <a:gdLst/>
            <a:ahLst/>
            <a:cxnLst/>
            <a:rect l="l" t="t" r="r" b="b"/>
            <a:pathLst>
              <a:path w="9537337" h="4374066">
                <a:moveTo>
                  <a:pt x="0" y="0"/>
                </a:moveTo>
                <a:lnTo>
                  <a:pt x="9537336" y="0"/>
                </a:lnTo>
                <a:lnTo>
                  <a:pt x="9537336" y="4374066"/>
                </a:lnTo>
                <a:lnTo>
                  <a:pt x="0" y="43740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191183" y="55245"/>
            <a:ext cx="6096089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6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DESAIN INPUT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387063"/>
            <a:ext cx="18288000" cy="6871237"/>
            <a:chOff x="0" y="0"/>
            <a:chExt cx="4816593" cy="1809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809709"/>
            </a:xfrm>
            <a:custGeom>
              <a:avLst/>
              <a:gdLst/>
              <a:ahLst/>
              <a:cxnLst/>
              <a:rect l="l" t="t" r="r" b="b"/>
              <a:pathLst>
                <a:path w="4816592" h="1809709">
                  <a:moveTo>
                    <a:pt x="0" y="0"/>
                  </a:moveTo>
                  <a:lnTo>
                    <a:pt x="4816592" y="0"/>
                  </a:lnTo>
                  <a:lnTo>
                    <a:pt x="4816592" y="1809709"/>
                  </a:lnTo>
                  <a:lnTo>
                    <a:pt x="0" y="1809709"/>
                  </a:lnTo>
                  <a:close/>
                </a:path>
              </a:pathLst>
            </a:custGeom>
            <a:solidFill>
              <a:srgbClr val="E6F5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847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5975" y="1449705"/>
            <a:ext cx="4498384" cy="6800350"/>
            <a:chOff x="0" y="0"/>
            <a:chExt cx="1184760" cy="17910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4760" cy="1791039"/>
            </a:xfrm>
            <a:custGeom>
              <a:avLst/>
              <a:gdLst/>
              <a:ahLst/>
              <a:cxnLst/>
              <a:rect l="l" t="t" r="r" b="b"/>
              <a:pathLst>
                <a:path w="1184760" h="1791039">
                  <a:moveTo>
                    <a:pt x="0" y="0"/>
                  </a:moveTo>
                  <a:lnTo>
                    <a:pt x="1184760" y="0"/>
                  </a:lnTo>
                  <a:lnTo>
                    <a:pt x="1184760" y="1791039"/>
                  </a:lnTo>
                  <a:lnTo>
                    <a:pt x="0" y="1791039"/>
                  </a:lnTo>
                  <a:close/>
                </a:path>
              </a:pathLst>
            </a:custGeom>
            <a:ln w="190500" cap="sq">
              <a:solidFill>
                <a:srgbClr val="2D3E5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4760" cy="1829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8393" y="2386672"/>
            <a:ext cx="14102455" cy="4926417"/>
            <a:chOff x="0" y="0"/>
            <a:chExt cx="3714227" cy="12974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4227" cy="1297493"/>
            </a:xfrm>
            <a:custGeom>
              <a:avLst/>
              <a:gdLst/>
              <a:ahLst/>
              <a:cxnLst/>
              <a:rect l="l" t="t" r="r" b="b"/>
              <a:pathLst>
                <a:path w="3714227" h="1297493">
                  <a:moveTo>
                    <a:pt x="0" y="0"/>
                  </a:moveTo>
                  <a:lnTo>
                    <a:pt x="3714227" y="0"/>
                  </a:lnTo>
                  <a:lnTo>
                    <a:pt x="3714227" y="1297493"/>
                  </a:lnTo>
                  <a:lnTo>
                    <a:pt x="0" y="1297493"/>
                  </a:lnTo>
                  <a:close/>
                </a:path>
              </a:pathLst>
            </a:custGeom>
            <a:solidFill>
              <a:srgbClr val="E6F5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14227" cy="1335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179769" y="6976887"/>
            <a:ext cx="672403" cy="672403"/>
          </a:xfrm>
          <a:custGeom>
            <a:avLst/>
            <a:gdLst/>
            <a:ahLst/>
            <a:cxnLst/>
            <a:rect l="l" t="t" r="r" b="b"/>
            <a:pathLst>
              <a:path w="672403" h="672403">
                <a:moveTo>
                  <a:pt x="0" y="0"/>
                </a:moveTo>
                <a:lnTo>
                  <a:pt x="672403" y="0"/>
                </a:lnTo>
                <a:lnTo>
                  <a:pt x="672403" y="672403"/>
                </a:lnTo>
                <a:lnTo>
                  <a:pt x="0" y="672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2" name="Freeform 12"/>
          <p:cNvSpPr/>
          <p:nvPr/>
        </p:nvSpPr>
        <p:spPr>
          <a:xfrm rot="5400000">
            <a:off x="2600677" y="3102272"/>
            <a:ext cx="2894199" cy="10541784"/>
          </a:xfrm>
          <a:custGeom>
            <a:avLst/>
            <a:gdLst/>
            <a:ahLst/>
            <a:cxnLst/>
            <a:rect l="l" t="t" r="r" b="b"/>
            <a:pathLst>
              <a:path w="2894199" h="10541784">
                <a:moveTo>
                  <a:pt x="0" y="0"/>
                </a:moveTo>
                <a:lnTo>
                  <a:pt x="2894199" y="0"/>
                </a:lnTo>
                <a:lnTo>
                  <a:pt x="2894199" y="10541784"/>
                </a:lnTo>
                <a:lnTo>
                  <a:pt x="0" y="10541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91809" y="3772138"/>
            <a:ext cx="9104383" cy="142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3"/>
              </a:lnSpc>
            </a:pPr>
            <a:r>
              <a:rPr lang="en-US" sz="9958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TERIMA KASIH</a:t>
            </a:r>
          </a:p>
        </p:txBody>
      </p:sp>
      <p:sp>
        <p:nvSpPr>
          <p:cNvPr id="15" name="Freeform 15"/>
          <p:cNvSpPr/>
          <p:nvPr/>
        </p:nvSpPr>
        <p:spPr>
          <a:xfrm>
            <a:off x="533400" y="354267"/>
            <a:ext cx="1901553" cy="1901553"/>
          </a:xfrm>
          <a:custGeom>
            <a:avLst/>
            <a:gdLst/>
            <a:ahLst/>
            <a:cxnLst/>
            <a:rect l="l" t="t" r="r" b="b"/>
            <a:pathLst>
              <a:path w="1901553" h="1901553">
                <a:moveTo>
                  <a:pt x="0" y="0"/>
                </a:moveTo>
                <a:lnTo>
                  <a:pt x="1901552" y="0"/>
                </a:lnTo>
                <a:lnTo>
                  <a:pt x="1901552" y="1901553"/>
                </a:lnTo>
                <a:lnTo>
                  <a:pt x="0" y="19015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615</Words>
  <Application>Microsoft Office PowerPoint</Application>
  <PresentationFormat>Custom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DM Serif Display</vt:lpstr>
      <vt:lpstr>Coco Gothic Bold</vt:lpstr>
      <vt:lpstr>Arial</vt:lpstr>
      <vt:lpstr>Coco Gothic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UNIVERSITAS SAINS DAN TEKNOLOGI INDONESIA</dc:title>
  <cp:lastModifiedBy>MUHAMMAD NABIL</cp:lastModifiedBy>
  <cp:revision>7</cp:revision>
  <dcterms:created xsi:type="dcterms:W3CDTF">2006-08-16T00:00:00Z</dcterms:created>
  <dcterms:modified xsi:type="dcterms:W3CDTF">2026-02-24T19:18:18Z</dcterms:modified>
  <dc:identifier>DAHAGJt7vjQ</dc:identifier>
</cp:coreProperties>
</file>