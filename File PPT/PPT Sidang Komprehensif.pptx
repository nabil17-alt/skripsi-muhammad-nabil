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Coco Gothic" panose="020B0604020202020204" charset="0"/>
      <p:regular r:id="rId20"/>
    </p:embeddedFont>
    <p:embeddedFont>
      <p:font typeface="Coco Gothic Bold" panose="020B0604020202020204" charset="0"/>
      <p:regular r:id="rId21"/>
    </p:embeddedFont>
    <p:embeddedFont>
      <p:font typeface="DM Serif Display" pitchFamily="2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387063"/>
            <a:ext cx="18288000" cy="6871237"/>
            <a:chOff x="0" y="0"/>
            <a:chExt cx="4816593" cy="18097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809709"/>
            </a:xfrm>
            <a:custGeom>
              <a:avLst/>
              <a:gdLst/>
              <a:ahLst/>
              <a:cxnLst/>
              <a:rect l="l" t="t" r="r" b="b"/>
              <a:pathLst>
                <a:path w="4816592" h="1809709">
                  <a:moveTo>
                    <a:pt x="0" y="0"/>
                  </a:moveTo>
                  <a:lnTo>
                    <a:pt x="4816592" y="0"/>
                  </a:lnTo>
                  <a:lnTo>
                    <a:pt x="4816592" y="1809709"/>
                  </a:lnTo>
                  <a:lnTo>
                    <a:pt x="0" y="1809709"/>
                  </a:lnTo>
                  <a:close/>
                </a:path>
              </a:pathLst>
            </a:custGeom>
            <a:solidFill>
              <a:srgbClr val="E6F5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847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15975" y="1884585"/>
            <a:ext cx="4498384" cy="6997927"/>
            <a:chOff x="0" y="0"/>
            <a:chExt cx="1184760" cy="18430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4760" cy="1843075"/>
            </a:xfrm>
            <a:custGeom>
              <a:avLst/>
              <a:gdLst/>
              <a:ahLst/>
              <a:cxnLst/>
              <a:rect l="l" t="t" r="r" b="b"/>
              <a:pathLst>
                <a:path w="1184760" h="1843075">
                  <a:moveTo>
                    <a:pt x="0" y="0"/>
                  </a:moveTo>
                  <a:lnTo>
                    <a:pt x="1184760" y="0"/>
                  </a:lnTo>
                  <a:lnTo>
                    <a:pt x="1184760" y="1843075"/>
                  </a:lnTo>
                  <a:lnTo>
                    <a:pt x="0" y="1843075"/>
                  </a:lnTo>
                  <a:close/>
                </a:path>
              </a:pathLst>
            </a:custGeom>
            <a:ln w="190500" cap="sq">
              <a:solidFill>
                <a:srgbClr val="2D3E56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84760" cy="1881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58393" y="2386672"/>
            <a:ext cx="14102455" cy="5262619"/>
            <a:chOff x="0" y="0"/>
            <a:chExt cx="3714227" cy="13860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4227" cy="1386039"/>
            </a:xfrm>
            <a:custGeom>
              <a:avLst/>
              <a:gdLst/>
              <a:ahLst/>
              <a:cxnLst/>
              <a:rect l="l" t="t" r="r" b="b"/>
              <a:pathLst>
                <a:path w="3714227" h="1386039">
                  <a:moveTo>
                    <a:pt x="0" y="0"/>
                  </a:moveTo>
                  <a:lnTo>
                    <a:pt x="3714227" y="0"/>
                  </a:lnTo>
                  <a:lnTo>
                    <a:pt x="3714227" y="1386039"/>
                  </a:lnTo>
                  <a:lnTo>
                    <a:pt x="0" y="1386039"/>
                  </a:lnTo>
                  <a:close/>
                </a:path>
              </a:pathLst>
            </a:custGeom>
            <a:solidFill>
              <a:srgbClr val="E6F5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714227" cy="1424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179769" y="7330353"/>
            <a:ext cx="672403" cy="672403"/>
          </a:xfrm>
          <a:custGeom>
            <a:avLst/>
            <a:gdLst/>
            <a:ahLst/>
            <a:cxnLst/>
            <a:rect l="l" t="t" r="r" b="b"/>
            <a:pathLst>
              <a:path w="672403" h="672403">
                <a:moveTo>
                  <a:pt x="0" y="0"/>
                </a:moveTo>
                <a:lnTo>
                  <a:pt x="672403" y="0"/>
                </a:lnTo>
                <a:lnTo>
                  <a:pt x="672403" y="672403"/>
                </a:lnTo>
                <a:lnTo>
                  <a:pt x="0" y="6724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5400000">
            <a:off x="2600677" y="3102272"/>
            <a:ext cx="2894199" cy="10541784"/>
          </a:xfrm>
          <a:custGeom>
            <a:avLst/>
            <a:gdLst/>
            <a:ahLst/>
            <a:cxnLst/>
            <a:rect l="l" t="t" r="r" b="b"/>
            <a:pathLst>
              <a:path w="2894199" h="10541784">
                <a:moveTo>
                  <a:pt x="0" y="0"/>
                </a:moveTo>
                <a:lnTo>
                  <a:pt x="2894199" y="0"/>
                </a:lnTo>
                <a:lnTo>
                  <a:pt x="2894199" y="10541784"/>
                </a:lnTo>
                <a:lnTo>
                  <a:pt x="0" y="10541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20800" y="323194"/>
            <a:ext cx="1901553" cy="1901553"/>
          </a:xfrm>
          <a:custGeom>
            <a:avLst/>
            <a:gdLst/>
            <a:ahLst/>
            <a:cxnLst/>
            <a:rect l="l" t="t" r="r" b="b"/>
            <a:pathLst>
              <a:path w="1901553" h="1901553">
                <a:moveTo>
                  <a:pt x="0" y="0"/>
                </a:moveTo>
                <a:lnTo>
                  <a:pt x="1901552" y="0"/>
                </a:lnTo>
                <a:lnTo>
                  <a:pt x="1901552" y="1901553"/>
                </a:lnTo>
                <a:lnTo>
                  <a:pt x="0" y="19015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0" y="2463263"/>
            <a:ext cx="16864040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45"/>
              </a:lnSpc>
            </a:pPr>
            <a:r>
              <a:rPr lang="en-US" sz="9500" spc="1482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SIDANG KOMPREHENSIF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6742" y="4017737"/>
            <a:ext cx="11388183" cy="1765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2"/>
              </a:lnSpc>
            </a:pPr>
            <a:r>
              <a:rPr lang="en-US" sz="4642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RANCANG BANGUN POINT OF SALES (POS) DAN MANAJEMEN PEMESANAN PADA PERCETAKAN BERBASIS WEB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6742" y="7451394"/>
            <a:ext cx="7157253" cy="187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919" b="1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Nama : Muhammad Nabil</a:t>
            </a:r>
          </a:p>
          <a:p>
            <a:pPr algn="l">
              <a:lnSpc>
                <a:spcPts val="2919"/>
              </a:lnSpc>
            </a:pPr>
            <a:r>
              <a:rPr lang="en-US" sz="2919" b="1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NIM.  2210031802043</a:t>
            </a:r>
          </a:p>
          <a:p>
            <a:pPr algn="l">
              <a:lnSpc>
                <a:spcPts val="2919"/>
              </a:lnSpc>
            </a:pPr>
            <a:endParaRPr lang="en-US" sz="2919" b="1">
              <a:solidFill>
                <a:srgbClr val="FFFFF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l">
              <a:lnSpc>
                <a:spcPts val="2919"/>
              </a:lnSpc>
            </a:pPr>
            <a:r>
              <a:rPr lang="en-US" sz="2919" b="1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Pembimbing : Dr. Ir. Mardainis, M.Kom</a:t>
            </a:r>
          </a:p>
          <a:p>
            <a:pPr algn="l">
              <a:lnSpc>
                <a:spcPts val="2919"/>
              </a:lnSpc>
            </a:pPr>
            <a:r>
              <a:rPr lang="en-US" sz="2919" b="1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NIDN. 1030036802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2335724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007896" y="9323181"/>
            <a:ext cx="2619848" cy="30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6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SIDANG KOMPREHENSIF</a:t>
            </a:r>
          </a:p>
        </p:txBody>
      </p:sp>
      <p:sp>
        <p:nvSpPr>
          <p:cNvPr id="5" name="AutoShape 5"/>
          <p:cNvSpPr/>
          <p:nvPr/>
        </p:nvSpPr>
        <p:spPr>
          <a:xfrm>
            <a:off x="16627744" y="9318242"/>
            <a:ext cx="0" cy="30447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656111" y="9255507"/>
            <a:ext cx="5972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51914" y="632460"/>
            <a:ext cx="8984172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6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VISI &amp; MISI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6627" y="2414076"/>
            <a:ext cx="15458102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"Menjadi Program Studi Teknik Informatika yang unggul dalam pengembangan profesional di bidang Artificial Intelligence dan Software Engineering berlandaskan nilai Islam dan budaya Melayu ditingkat nasional dan global pada tahun 2035."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6627" y="1520190"/>
            <a:ext cx="191481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5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VISI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96627" y="3411026"/>
            <a:ext cx="191481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5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MISI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96627" y="4306376"/>
            <a:ext cx="15458102" cy="354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1. Menyelenggarakan pendidikan berkualitas di bidang Teknik Informatika untuk menghasilkan lulusan profesional, berdaya saing nasional dan global, serta berkarakter Islami dan berbudaya Melayu.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2. Mengembangkan penelitian unggulan di bidang Artificial Intelligence dan Software Engineering yang inovatif, aplikatif, serta bermanfaat bagi kemajuan ilmu pengetahuan, industri, dan masyarakat.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3. Melaksanakan kegiatan pengabdian pada masyarakat yang bersifat pemecahan masalah yang dihadapi masyarakat dan industri.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4. Mengembangkan kompetensi mahasiswa dalam menghadapi ekonomi digital dengan kemampuan kewirausahaan berbasis teknologi (Technopreneur).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5. Membangun jejaring kerja sama dengan industri, pemerintah, dan institusi pendidikan baik di dalam maupun luar negeri untuk memperkuat relevansi pendidikan, penelitian, dan pengabdian.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19109" y="1894173"/>
            <a:ext cx="4643584" cy="6498655"/>
          </a:xfrm>
          <a:custGeom>
            <a:avLst/>
            <a:gdLst/>
            <a:ahLst/>
            <a:cxnLst/>
            <a:rect l="l" t="t" r="r" b="b"/>
            <a:pathLst>
              <a:path w="4643584" h="6498655">
                <a:moveTo>
                  <a:pt x="0" y="0"/>
                </a:moveTo>
                <a:lnTo>
                  <a:pt x="4643584" y="0"/>
                </a:lnTo>
                <a:lnTo>
                  <a:pt x="4643584" y="6498654"/>
                </a:lnTo>
                <a:lnTo>
                  <a:pt x="0" y="6498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2684"/>
            <a:ext cx="16230600" cy="8235616"/>
            <a:chOff x="0" y="0"/>
            <a:chExt cx="4274726" cy="21690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9051"/>
            </a:xfrm>
            <a:custGeom>
              <a:avLst/>
              <a:gdLst/>
              <a:ahLst/>
              <a:cxnLst/>
              <a:rect l="l" t="t" r="r" b="b"/>
              <a:pathLst>
                <a:path w="4274726" h="2169051">
                  <a:moveTo>
                    <a:pt x="0" y="0"/>
                  </a:moveTo>
                  <a:lnTo>
                    <a:pt x="4274726" y="0"/>
                  </a:lnTo>
                  <a:lnTo>
                    <a:pt x="4274726" y="2169051"/>
                  </a:lnTo>
                  <a:lnTo>
                    <a:pt x="0" y="2169051"/>
                  </a:lnTo>
                  <a:close/>
                </a:path>
              </a:pathLst>
            </a:custGeom>
            <a:ln w="190500" cap="sq">
              <a:solidFill>
                <a:srgbClr val="2D3E56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7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007896" y="9323181"/>
            <a:ext cx="2619848" cy="30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6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SIDANG KOMPREHENSIF</a:t>
            </a:r>
          </a:p>
        </p:txBody>
      </p:sp>
      <p:sp>
        <p:nvSpPr>
          <p:cNvPr id="7" name="AutoShape 7"/>
          <p:cNvSpPr/>
          <p:nvPr/>
        </p:nvSpPr>
        <p:spPr>
          <a:xfrm>
            <a:off x="16627744" y="9318242"/>
            <a:ext cx="0" cy="304475"/>
          </a:xfrm>
          <a:prstGeom prst="line">
            <a:avLst/>
          </a:prstGeom>
          <a:ln w="381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58641" y="3254508"/>
            <a:ext cx="2699541" cy="3777984"/>
          </a:xfrm>
          <a:custGeom>
            <a:avLst/>
            <a:gdLst/>
            <a:ahLst/>
            <a:cxnLst/>
            <a:rect l="l" t="t" r="r" b="b"/>
            <a:pathLst>
              <a:path w="2699541" h="3777984">
                <a:moveTo>
                  <a:pt x="0" y="0"/>
                </a:moveTo>
                <a:lnTo>
                  <a:pt x="2699542" y="0"/>
                </a:lnTo>
                <a:lnTo>
                  <a:pt x="2699542" y="3777984"/>
                </a:lnTo>
                <a:lnTo>
                  <a:pt x="0" y="3777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02540" y="2913421"/>
            <a:ext cx="537514" cy="537514"/>
          </a:xfrm>
          <a:custGeom>
            <a:avLst/>
            <a:gdLst/>
            <a:ahLst/>
            <a:cxnLst/>
            <a:rect l="l" t="t" r="r" b="b"/>
            <a:pathLst>
              <a:path w="537514" h="537514">
                <a:moveTo>
                  <a:pt x="0" y="0"/>
                </a:moveTo>
                <a:lnTo>
                  <a:pt x="537515" y="0"/>
                </a:lnTo>
                <a:lnTo>
                  <a:pt x="537515" y="537515"/>
                </a:lnTo>
                <a:lnTo>
                  <a:pt x="0" y="5375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53615" y="6665988"/>
            <a:ext cx="537514" cy="537514"/>
          </a:xfrm>
          <a:custGeom>
            <a:avLst/>
            <a:gdLst/>
            <a:ahLst/>
            <a:cxnLst/>
            <a:rect l="l" t="t" r="r" b="b"/>
            <a:pathLst>
              <a:path w="537514" h="537514">
                <a:moveTo>
                  <a:pt x="0" y="0"/>
                </a:moveTo>
                <a:lnTo>
                  <a:pt x="537515" y="0"/>
                </a:lnTo>
                <a:lnTo>
                  <a:pt x="537515" y="537515"/>
                </a:lnTo>
                <a:lnTo>
                  <a:pt x="0" y="5375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7048823" y="1365304"/>
            <a:ext cx="10204523" cy="7508958"/>
            <a:chOff x="0" y="0"/>
            <a:chExt cx="2687611" cy="19776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87611" cy="1977668"/>
            </a:xfrm>
            <a:custGeom>
              <a:avLst/>
              <a:gdLst/>
              <a:ahLst/>
              <a:cxnLst/>
              <a:rect l="l" t="t" r="r" b="b"/>
              <a:pathLst>
                <a:path w="2687611" h="1977668">
                  <a:moveTo>
                    <a:pt x="0" y="0"/>
                  </a:moveTo>
                  <a:lnTo>
                    <a:pt x="2687611" y="0"/>
                  </a:lnTo>
                  <a:lnTo>
                    <a:pt x="2687611" y="1977668"/>
                  </a:lnTo>
                  <a:lnTo>
                    <a:pt x="0" y="1977668"/>
                  </a:lnTo>
                  <a:close/>
                </a:path>
              </a:pathLst>
            </a:custGeom>
            <a:solidFill>
              <a:srgbClr val="2D3E56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687611" cy="20157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10294" y="2021916"/>
            <a:ext cx="8681582" cy="600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just">
              <a:lnSpc>
                <a:spcPts val="280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Perkembangan teknologi digital mendorong perubahan pada aktivitas bisnis dan ekonomi.</a:t>
            </a:r>
          </a:p>
          <a:p>
            <a:pPr marL="431802" lvl="1" indent="-215901" algn="just">
              <a:lnSpc>
                <a:spcPts val="280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Usaha percetakan masih banyak menggunakan sistem manual (nota kertas, pencatatan buku).</a:t>
            </a:r>
          </a:p>
          <a:p>
            <a:pPr marL="431802" lvl="1" indent="-215901" algn="just">
              <a:lnSpc>
                <a:spcPts val="280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Permasalahan sistem manual:</a:t>
            </a:r>
          </a:p>
          <a:p>
            <a:pPr marL="431802" lvl="1" indent="-215901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Risiko data hilang atau rusak</a:t>
            </a:r>
          </a:p>
          <a:p>
            <a:pPr marL="431802" lvl="1" indent="-215901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Kesalahan pencatatan transaksi</a:t>
            </a:r>
          </a:p>
          <a:p>
            <a:pPr marL="431802" lvl="1" indent="-215901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Laporan penjualan tidak akurat</a:t>
            </a:r>
          </a:p>
          <a:p>
            <a:pPr marL="431802" lvl="1" indent="-215901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Sulit menganalisis data penjualan  </a:t>
            </a:r>
          </a:p>
          <a:p>
            <a:pPr marL="431802" lvl="1" indent="-215901" algn="just">
              <a:lnSpc>
                <a:spcPts val="280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Zimam Advertising masih menerapkan pencatatan manual transaksi dan pesanan.</a:t>
            </a:r>
          </a:p>
          <a:p>
            <a:pPr marL="431802" lvl="1" indent="-215901" algn="just">
              <a:lnSpc>
                <a:spcPts val="280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Dibutuhkan sistem terintegrasi untuk kasir, pemesanan, dan laporan penjualan.</a:t>
            </a:r>
          </a:p>
          <a:p>
            <a:pPr marL="431802" lvl="1" indent="-215901" algn="just">
              <a:lnSpc>
                <a:spcPts val="280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Aplikasi berbasis web dengan framework Laravel dipilih karena aman, fleksibel, dan mudah dikembangkan.</a:t>
            </a:r>
          </a:p>
          <a:p>
            <a:pPr marL="431802" lvl="1" indent="-215901" algn="just">
              <a:lnSpc>
                <a:spcPts val="280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Metode Agile Development(Scrum) cocok karena mendukung perubahan kebutuhan pengguna secara cepat.</a:t>
            </a:r>
          </a:p>
        </p:txBody>
      </p:sp>
      <p:sp>
        <p:nvSpPr>
          <p:cNvPr id="16" name="Freeform 16"/>
          <p:cNvSpPr/>
          <p:nvPr/>
        </p:nvSpPr>
        <p:spPr>
          <a:xfrm rot="-5400000">
            <a:off x="-2335724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6656111" y="9255507"/>
            <a:ext cx="5972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7134" y="4243463"/>
            <a:ext cx="5003213" cy="168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0"/>
              </a:lnSpc>
            </a:pPr>
            <a:r>
              <a:rPr lang="en-US" sz="6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LATAR BELAKANG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388" y="4506860"/>
            <a:ext cx="15588341" cy="4751440"/>
            <a:chOff x="0" y="0"/>
            <a:chExt cx="4105571" cy="12514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05571" cy="1251408"/>
            </a:xfrm>
            <a:custGeom>
              <a:avLst/>
              <a:gdLst/>
              <a:ahLst/>
              <a:cxnLst/>
              <a:rect l="l" t="t" r="r" b="b"/>
              <a:pathLst>
                <a:path w="4105571" h="1251408">
                  <a:moveTo>
                    <a:pt x="0" y="0"/>
                  </a:moveTo>
                  <a:lnTo>
                    <a:pt x="4105571" y="0"/>
                  </a:lnTo>
                  <a:lnTo>
                    <a:pt x="4105571" y="1251408"/>
                  </a:lnTo>
                  <a:lnTo>
                    <a:pt x="0" y="1251408"/>
                  </a:lnTo>
                  <a:close/>
                </a:path>
              </a:pathLst>
            </a:custGeom>
            <a:solidFill>
              <a:srgbClr val="2D3E56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05571" cy="128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815853" y="-520998"/>
            <a:ext cx="6656294" cy="4114800"/>
          </a:xfrm>
          <a:custGeom>
            <a:avLst/>
            <a:gdLst/>
            <a:ahLst/>
            <a:cxnLst/>
            <a:rect l="l" t="t" r="r" b="b"/>
            <a:pathLst>
              <a:path w="6656294" h="4114800">
                <a:moveTo>
                  <a:pt x="0" y="0"/>
                </a:moveTo>
                <a:lnTo>
                  <a:pt x="6656294" y="0"/>
                </a:lnTo>
                <a:lnTo>
                  <a:pt x="66562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44128" y="2408892"/>
            <a:ext cx="16230600" cy="4898214"/>
            <a:chOff x="0" y="0"/>
            <a:chExt cx="4274726" cy="12900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74726" cy="1290065"/>
            </a:xfrm>
            <a:custGeom>
              <a:avLst/>
              <a:gdLst/>
              <a:ahLst/>
              <a:cxnLst/>
              <a:rect l="l" t="t" r="r" b="b"/>
              <a:pathLst>
                <a:path w="4274726" h="1290065">
                  <a:moveTo>
                    <a:pt x="0" y="0"/>
                  </a:moveTo>
                  <a:lnTo>
                    <a:pt x="4274726" y="0"/>
                  </a:lnTo>
                  <a:lnTo>
                    <a:pt x="4274726" y="1290065"/>
                  </a:lnTo>
                  <a:lnTo>
                    <a:pt x="0" y="1290065"/>
                  </a:lnTo>
                  <a:close/>
                </a:path>
              </a:pathLst>
            </a:custGeom>
            <a:ln w="190500" cap="sq">
              <a:solidFill>
                <a:srgbClr val="2D3E56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274726" cy="1328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273889" y="-237848"/>
            <a:ext cx="5740221" cy="3548500"/>
          </a:xfrm>
          <a:custGeom>
            <a:avLst/>
            <a:gdLst/>
            <a:ahLst/>
            <a:cxnLst/>
            <a:rect l="l" t="t" r="r" b="b"/>
            <a:pathLst>
              <a:path w="5740221" h="3548500">
                <a:moveTo>
                  <a:pt x="0" y="0"/>
                </a:moveTo>
                <a:lnTo>
                  <a:pt x="5740222" y="0"/>
                </a:lnTo>
                <a:lnTo>
                  <a:pt x="5740222" y="3548500"/>
                </a:lnTo>
                <a:lnTo>
                  <a:pt x="0" y="3548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5400000">
            <a:off x="15972129" y="4647597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9" y="0"/>
                </a:lnTo>
                <a:lnTo>
                  <a:pt x="4671449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5400000">
            <a:off x="-2315871" y="4647597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9" y="0"/>
                </a:lnTo>
                <a:lnTo>
                  <a:pt x="4671449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195083" y="2152346"/>
            <a:ext cx="529672" cy="529672"/>
          </a:xfrm>
          <a:custGeom>
            <a:avLst/>
            <a:gdLst/>
            <a:ahLst/>
            <a:cxnLst/>
            <a:rect l="l" t="t" r="r" b="b"/>
            <a:pathLst>
              <a:path w="529672" h="529672">
                <a:moveTo>
                  <a:pt x="0" y="0"/>
                </a:moveTo>
                <a:lnTo>
                  <a:pt x="529673" y="0"/>
                </a:lnTo>
                <a:lnTo>
                  <a:pt x="529673" y="529673"/>
                </a:lnTo>
                <a:lnTo>
                  <a:pt x="0" y="5296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4007896" y="9323181"/>
            <a:ext cx="2619848" cy="30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6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SIDANG KOMPREHENSIF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56111" y="9255507"/>
            <a:ext cx="5972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04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874907" y="5910106"/>
            <a:ext cx="2940769" cy="2790190"/>
            <a:chOff x="0" y="0"/>
            <a:chExt cx="3921025" cy="372025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432012"/>
              <a:ext cx="3921025" cy="32882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Coco Gothic"/>
                  <a:ea typeface="Coco Gothic"/>
                  <a:cs typeface="Coco Gothic"/>
                  <a:sym typeface="Coco Gothic"/>
                </a:rPr>
                <a:t>Bagaimana merancang dan mengimplementasikan aplikasi kasir dan manajemen pemesanan berbasis web menggunakan Laravel?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173280" cy="449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Rumusan Satu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922857" y="5910106"/>
            <a:ext cx="2940769" cy="1732915"/>
            <a:chOff x="0" y="0"/>
            <a:chExt cx="3921025" cy="231055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432012"/>
              <a:ext cx="3921025" cy="1878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Coco Gothic"/>
                  <a:ea typeface="Coco Gothic"/>
                  <a:cs typeface="Coco Gothic"/>
                  <a:sym typeface="Coco Gothic"/>
                </a:rPr>
                <a:t>Bagaimana dashboard analitik menampilkan performa penjualan dan bisnis?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3371022" cy="449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Rumusan Tiga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120197" y="5912011"/>
            <a:ext cx="2940769" cy="2437765"/>
            <a:chOff x="0" y="0"/>
            <a:chExt cx="3921025" cy="325035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432012"/>
              <a:ext cx="3921025" cy="2818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Coco Gothic"/>
                  <a:ea typeface="Coco Gothic"/>
                  <a:cs typeface="Coco Gothic"/>
                  <a:sym typeface="Coco Gothic"/>
                </a:rPr>
                <a:t>Bagaimana mengintegrasikan berbagai metode pembayaran (cash, transfer, QRIS, e-wallet)?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3371022" cy="449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Rumusan Dua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120197" y="4677593"/>
            <a:ext cx="1604558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22857" y="4753224"/>
            <a:ext cx="1335670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3.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74907" y="4677593"/>
            <a:ext cx="1335670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1.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59672" y="1593552"/>
            <a:ext cx="5168655" cy="168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6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RUMUSAN MASALAH</a:t>
            </a:r>
          </a:p>
        </p:txBody>
      </p:sp>
      <p:sp>
        <p:nvSpPr>
          <p:cNvPr id="28" name="Freeform 28"/>
          <p:cNvSpPr/>
          <p:nvPr/>
        </p:nvSpPr>
        <p:spPr>
          <a:xfrm>
            <a:off x="11728327" y="2172631"/>
            <a:ext cx="529672" cy="529672"/>
          </a:xfrm>
          <a:custGeom>
            <a:avLst/>
            <a:gdLst/>
            <a:ahLst/>
            <a:cxnLst/>
            <a:rect l="l" t="t" r="r" b="b"/>
            <a:pathLst>
              <a:path w="529672" h="529672">
                <a:moveTo>
                  <a:pt x="0" y="0"/>
                </a:moveTo>
                <a:lnTo>
                  <a:pt x="529672" y="0"/>
                </a:lnTo>
                <a:lnTo>
                  <a:pt x="529672" y="529673"/>
                </a:lnTo>
                <a:lnTo>
                  <a:pt x="0" y="5296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9" name="AutoShape 29"/>
          <p:cNvSpPr/>
          <p:nvPr/>
        </p:nvSpPr>
        <p:spPr>
          <a:xfrm>
            <a:off x="16627744" y="9318242"/>
            <a:ext cx="0" cy="304475"/>
          </a:xfrm>
          <a:prstGeom prst="line">
            <a:avLst/>
          </a:prstGeom>
          <a:ln w="381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TextBox 30"/>
          <p:cNvSpPr txBox="1"/>
          <p:nvPr/>
        </p:nvSpPr>
        <p:spPr>
          <a:xfrm>
            <a:off x="11163527" y="4753224"/>
            <a:ext cx="1335670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4.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1168426" y="5910106"/>
            <a:ext cx="2940769" cy="1732915"/>
            <a:chOff x="0" y="0"/>
            <a:chExt cx="3921025" cy="2310553"/>
          </a:xfrm>
        </p:grpSpPr>
        <p:sp>
          <p:nvSpPr>
            <p:cNvPr id="32" name="TextBox 32"/>
            <p:cNvSpPr txBox="1"/>
            <p:nvPr/>
          </p:nvSpPr>
          <p:spPr>
            <a:xfrm>
              <a:off x="0" y="432012"/>
              <a:ext cx="3921025" cy="1878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Coco Gothic"/>
                  <a:ea typeface="Coco Gothic"/>
                  <a:cs typeface="Coco Gothic"/>
                  <a:sym typeface="Coco Gothic"/>
                </a:rPr>
                <a:t>Bagaimana sistem pemesanan dan pelacakan pesanan online diterapkan?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3371022" cy="449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Rumusan Empat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3970806" y="4753224"/>
            <a:ext cx="1335670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5.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3970806" y="5912011"/>
            <a:ext cx="2940769" cy="1732915"/>
            <a:chOff x="0" y="0"/>
            <a:chExt cx="3921025" cy="2310553"/>
          </a:xfrm>
        </p:grpSpPr>
        <p:sp>
          <p:nvSpPr>
            <p:cNvPr id="36" name="TextBox 36"/>
            <p:cNvSpPr txBox="1"/>
            <p:nvPr/>
          </p:nvSpPr>
          <p:spPr>
            <a:xfrm>
              <a:off x="0" y="432012"/>
              <a:ext cx="3921025" cy="1878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Coco Gothic"/>
                  <a:ea typeface="Coco Gothic"/>
                  <a:cs typeface="Coco Gothic"/>
                  <a:sym typeface="Coco Gothic"/>
                </a:rPr>
                <a:t>Bagaimana hasil pengujian sistem menggunakan Black Box Testing dan UAT?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3371022" cy="449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Rumusan Lima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07896" y="9303132"/>
            <a:ext cx="3245450" cy="374650"/>
            <a:chOff x="0" y="0"/>
            <a:chExt cx="4327267" cy="499533"/>
          </a:xfrm>
        </p:grpSpPr>
        <p:sp>
          <p:nvSpPr>
            <p:cNvPr id="3" name="TextBox 3"/>
            <p:cNvSpPr txBox="1"/>
            <p:nvPr/>
          </p:nvSpPr>
          <p:spPr>
            <a:xfrm>
              <a:off x="0" y="39432"/>
              <a:ext cx="3493131" cy="387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6"/>
                </a:lnSpc>
              </a:pPr>
              <a:r>
                <a:rPr lang="en-US" sz="1726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SIDANG KOMPREHENSIF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30953" y="-47625"/>
              <a:ext cx="796314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05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9544784" y="4750305"/>
            <a:ext cx="7315200" cy="4037990"/>
          </a:xfrm>
          <a:custGeom>
            <a:avLst/>
            <a:gdLst/>
            <a:ahLst/>
            <a:cxnLst/>
            <a:rect l="l" t="t" r="r" b="b"/>
            <a:pathLst>
              <a:path w="7315200" h="4037990">
                <a:moveTo>
                  <a:pt x="0" y="0"/>
                </a:moveTo>
                <a:lnTo>
                  <a:pt x="7315200" y="0"/>
                </a:lnTo>
                <a:lnTo>
                  <a:pt x="7315200" y="4037990"/>
                </a:lnTo>
                <a:lnTo>
                  <a:pt x="0" y="40379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94542" y="1028700"/>
            <a:ext cx="7391184" cy="12318641"/>
          </a:xfrm>
          <a:custGeom>
            <a:avLst/>
            <a:gdLst/>
            <a:ahLst/>
            <a:cxnLst/>
            <a:rect l="l" t="t" r="r" b="b"/>
            <a:pathLst>
              <a:path w="7391184" h="12318641">
                <a:moveTo>
                  <a:pt x="0" y="0"/>
                </a:moveTo>
                <a:lnTo>
                  <a:pt x="7391184" y="0"/>
                </a:lnTo>
                <a:lnTo>
                  <a:pt x="7391184" y="12318641"/>
                </a:lnTo>
                <a:lnTo>
                  <a:pt x="0" y="123186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-2335724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879017" y="1281019"/>
            <a:ext cx="2272659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1.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63926" y="2192645"/>
            <a:ext cx="651531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Sistem berbasis web menggunakan framework Laravel dan database MySQL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79017" y="2930749"/>
            <a:ext cx="3257656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79017" y="3842375"/>
            <a:ext cx="651531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Metode pengembangan menggunakan Agile Development (Scrum)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63926" y="4501317"/>
            <a:ext cx="3135345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3.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63926" y="5391814"/>
            <a:ext cx="6515313" cy="17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Fitur sistem mencakup Point of Sale (Kasir), manajemen pemesanan percetakan, integrasi pembayaran (cash, transfer bank, QRIS, dan e-wallet), dashboard analitik penjualan, serta pemesanan dan pelacakan pesanan online.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845153" y="5143500"/>
            <a:ext cx="629978" cy="629978"/>
          </a:xfrm>
          <a:custGeom>
            <a:avLst/>
            <a:gdLst/>
            <a:ahLst/>
            <a:cxnLst/>
            <a:rect l="l" t="t" r="r" b="b"/>
            <a:pathLst>
              <a:path w="629978" h="629978">
                <a:moveTo>
                  <a:pt x="0" y="0"/>
                </a:moveTo>
                <a:lnTo>
                  <a:pt x="629978" y="0"/>
                </a:lnTo>
                <a:lnTo>
                  <a:pt x="629978" y="629978"/>
                </a:lnTo>
                <a:lnTo>
                  <a:pt x="0" y="629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495620" y="1344484"/>
            <a:ext cx="913800" cy="913800"/>
          </a:xfrm>
          <a:custGeom>
            <a:avLst/>
            <a:gdLst/>
            <a:ahLst/>
            <a:cxnLst/>
            <a:rect l="l" t="t" r="r" b="b"/>
            <a:pathLst>
              <a:path w="913800" h="913800">
                <a:moveTo>
                  <a:pt x="0" y="0"/>
                </a:moveTo>
                <a:lnTo>
                  <a:pt x="913800" y="0"/>
                </a:lnTo>
                <a:lnTo>
                  <a:pt x="913800" y="913800"/>
                </a:lnTo>
                <a:lnTo>
                  <a:pt x="0" y="913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952520" y="1820434"/>
            <a:ext cx="8290416" cy="3588089"/>
          </a:xfrm>
          <a:custGeom>
            <a:avLst/>
            <a:gdLst/>
            <a:ahLst/>
            <a:cxnLst/>
            <a:rect l="l" t="t" r="r" b="b"/>
            <a:pathLst>
              <a:path w="8290416" h="3588089">
                <a:moveTo>
                  <a:pt x="0" y="0"/>
                </a:moveTo>
                <a:lnTo>
                  <a:pt x="7975923" y="0"/>
                </a:lnTo>
                <a:cubicBezTo>
                  <a:pt x="8036552" y="0"/>
                  <a:pt x="8094697" y="24085"/>
                  <a:pt x="8137568" y="66956"/>
                </a:cubicBezTo>
                <a:cubicBezTo>
                  <a:pt x="8180439" y="109826"/>
                  <a:pt x="8204523" y="167972"/>
                  <a:pt x="8204523" y="228600"/>
                </a:cubicBezTo>
                <a:lnTo>
                  <a:pt x="8204523" y="3545143"/>
                </a:lnTo>
                <a:cubicBezTo>
                  <a:pt x="8204523" y="3568861"/>
                  <a:pt x="8223752" y="3588089"/>
                  <a:pt x="8247469" y="3588089"/>
                </a:cubicBezTo>
                <a:lnTo>
                  <a:pt x="8290416" y="3588089"/>
                </a:lnTo>
              </a:path>
            </a:pathLst>
          </a:custGeom>
          <a:ln w="1905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10823583" y="986668"/>
            <a:ext cx="6036401" cy="2342660"/>
            <a:chOff x="0" y="0"/>
            <a:chExt cx="1589834" cy="61699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89834" cy="616997"/>
            </a:xfrm>
            <a:custGeom>
              <a:avLst/>
              <a:gdLst/>
              <a:ahLst/>
              <a:cxnLst/>
              <a:rect l="l" t="t" r="r" b="b"/>
              <a:pathLst>
                <a:path w="1589834" h="616997">
                  <a:moveTo>
                    <a:pt x="0" y="0"/>
                  </a:moveTo>
                  <a:lnTo>
                    <a:pt x="1589834" y="0"/>
                  </a:lnTo>
                  <a:lnTo>
                    <a:pt x="1589834" y="616997"/>
                  </a:lnTo>
                  <a:lnTo>
                    <a:pt x="0" y="616997"/>
                  </a:lnTo>
                  <a:close/>
                </a:path>
              </a:pathLst>
            </a:custGeom>
            <a:solidFill>
              <a:srgbClr val="2D3E5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589834" cy="655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126663" y="1442944"/>
            <a:ext cx="6348468" cy="168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60"/>
              </a:lnSpc>
            </a:pPr>
            <a:r>
              <a:rPr lang="en-US" sz="6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BATASAN</a:t>
            </a:r>
          </a:p>
          <a:p>
            <a:pPr algn="r">
              <a:lnSpc>
                <a:spcPts val="6660"/>
              </a:lnSpc>
            </a:pPr>
            <a:r>
              <a:rPr lang="en-US" sz="6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MASALAH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6627744" y="9318242"/>
            <a:ext cx="0" cy="304475"/>
          </a:xfrm>
          <a:prstGeom prst="line">
            <a:avLst/>
          </a:prstGeom>
          <a:ln w="381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1879017" y="7188864"/>
            <a:ext cx="2272659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4.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94107" y="8067571"/>
            <a:ext cx="651531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Pengujian menggunakan Black Box Testing dan User Acceptance Testing (UAT)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176376" y="5668703"/>
            <a:ext cx="2272659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5.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76376" y="6580329"/>
            <a:ext cx="6515313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Sistem diterapkan pada usaha Zimam Advertising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14617" y="1028700"/>
            <a:ext cx="7391184" cy="12318641"/>
          </a:xfrm>
          <a:custGeom>
            <a:avLst/>
            <a:gdLst/>
            <a:ahLst/>
            <a:cxnLst/>
            <a:rect l="l" t="t" r="r" b="b"/>
            <a:pathLst>
              <a:path w="7391184" h="12318641">
                <a:moveTo>
                  <a:pt x="0" y="0"/>
                </a:moveTo>
                <a:lnTo>
                  <a:pt x="7391184" y="0"/>
                </a:lnTo>
                <a:lnTo>
                  <a:pt x="7391184" y="12318641"/>
                </a:lnTo>
                <a:lnTo>
                  <a:pt x="0" y="123186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94542" y="9435392"/>
            <a:ext cx="3245450" cy="374650"/>
            <a:chOff x="0" y="0"/>
            <a:chExt cx="4327267" cy="499533"/>
          </a:xfrm>
        </p:grpSpPr>
        <p:sp>
          <p:nvSpPr>
            <p:cNvPr id="4" name="TextBox 4"/>
            <p:cNvSpPr txBox="1"/>
            <p:nvPr/>
          </p:nvSpPr>
          <p:spPr>
            <a:xfrm>
              <a:off x="0" y="39432"/>
              <a:ext cx="3493131" cy="387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6"/>
                </a:lnSpc>
              </a:pPr>
              <a:r>
                <a:rPr lang="en-US" sz="1726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SIDANG KOMPREHENSIF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530953" y="-47625"/>
              <a:ext cx="796314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06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394542" y="5143500"/>
            <a:ext cx="7315200" cy="4037990"/>
          </a:xfrm>
          <a:custGeom>
            <a:avLst/>
            <a:gdLst/>
            <a:ahLst/>
            <a:cxnLst/>
            <a:rect l="l" t="t" r="r" b="b"/>
            <a:pathLst>
              <a:path w="7315200" h="4037990">
                <a:moveTo>
                  <a:pt x="0" y="0"/>
                </a:moveTo>
                <a:lnTo>
                  <a:pt x="7315200" y="0"/>
                </a:lnTo>
                <a:lnTo>
                  <a:pt x="7315200" y="4037990"/>
                </a:lnTo>
                <a:lnTo>
                  <a:pt x="0" y="40379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-2335724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89849" y="5430578"/>
            <a:ext cx="629978" cy="629978"/>
          </a:xfrm>
          <a:custGeom>
            <a:avLst/>
            <a:gdLst/>
            <a:ahLst/>
            <a:cxnLst/>
            <a:rect l="l" t="t" r="r" b="b"/>
            <a:pathLst>
              <a:path w="629978" h="629978">
                <a:moveTo>
                  <a:pt x="0" y="0"/>
                </a:moveTo>
                <a:lnTo>
                  <a:pt x="629978" y="0"/>
                </a:lnTo>
                <a:lnTo>
                  <a:pt x="629978" y="629979"/>
                </a:lnTo>
                <a:lnTo>
                  <a:pt x="0" y="6299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329628" y="1614190"/>
            <a:ext cx="913800" cy="913800"/>
          </a:xfrm>
          <a:custGeom>
            <a:avLst/>
            <a:gdLst/>
            <a:ahLst/>
            <a:cxnLst/>
            <a:rect l="l" t="t" r="r" b="b"/>
            <a:pathLst>
              <a:path w="913800" h="913800">
                <a:moveTo>
                  <a:pt x="0" y="0"/>
                </a:moveTo>
                <a:lnTo>
                  <a:pt x="913800" y="0"/>
                </a:lnTo>
                <a:lnTo>
                  <a:pt x="913800" y="913800"/>
                </a:lnTo>
                <a:lnTo>
                  <a:pt x="0" y="913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985621" y="2071090"/>
            <a:ext cx="8800907" cy="3607139"/>
          </a:xfrm>
          <a:custGeom>
            <a:avLst/>
            <a:gdLst/>
            <a:ahLst/>
            <a:cxnLst/>
            <a:rect l="l" t="t" r="r" b="b"/>
            <a:pathLst>
              <a:path w="8800907" h="3607139">
                <a:moveTo>
                  <a:pt x="8800907" y="0"/>
                </a:moveTo>
                <a:lnTo>
                  <a:pt x="228600" y="0"/>
                </a:lnTo>
                <a:cubicBezTo>
                  <a:pt x="167971" y="0"/>
                  <a:pt x="109826" y="24084"/>
                  <a:pt x="66955" y="66955"/>
                </a:cubicBezTo>
                <a:cubicBezTo>
                  <a:pt x="24084" y="109826"/>
                  <a:pt x="0" y="167971"/>
                  <a:pt x="0" y="228600"/>
                </a:cubicBezTo>
                <a:lnTo>
                  <a:pt x="0" y="3564192"/>
                </a:lnTo>
                <a:cubicBezTo>
                  <a:pt x="0" y="3587911"/>
                  <a:pt x="19227" y="3607139"/>
                  <a:pt x="42946" y="3607139"/>
                </a:cubicBezTo>
                <a:lnTo>
                  <a:pt x="85892" y="3607139"/>
                </a:lnTo>
              </a:path>
            </a:pathLst>
          </a:custGeom>
          <a:ln w="1905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394542" y="1028700"/>
            <a:ext cx="6036401" cy="2342660"/>
            <a:chOff x="0" y="0"/>
            <a:chExt cx="1589834" cy="6169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89834" cy="616997"/>
            </a:xfrm>
            <a:custGeom>
              <a:avLst/>
              <a:gdLst/>
              <a:ahLst/>
              <a:cxnLst/>
              <a:rect l="l" t="t" r="r" b="b"/>
              <a:pathLst>
                <a:path w="1589834" h="616997">
                  <a:moveTo>
                    <a:pt x="0" y="0"/>
                  </a:moveTo>
                  <a:lnTo>
                    <a:pt x="1589834" y="0"/>
                  </a:lnTo>
                  <a:lnTo>
                    <a:pt x="1589834" y="616997"/>
                  </a:lnTo>
                  <a:lnTo>
                    <a:pt x="0" y="616997"/>
                  </a:lnTo>
                  <a:close/>
                </a:path>
              </a:pathLst>
            </a:custGeom>
            <a:solidFill>
              <a:srgbClr val="2D3E5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89834" cy="655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4024811" y="9411015"/>
            <a:ext cx="0" cy="423404"/>
          </a:xfrm>
          <a:prstGeom prst="line">
            <a:avLst/>
          </a:prstGeom>
          <a:ln w="381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689849" y="1384690"/>
            <a:ext cx="6348468" cy="168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660"/>
              </a:lnSpc>
            </a:pPr>
            <a:r>
              <a:rPr lang="en-US" sz="6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TUJUAN</a:t>
            </a:r>
          </a:p>
          <a:p>
            <a:pPr algn="just">
              <a:lnSpc>
                <a:spcPts val="6660"/>
              </a:lnSpc>
            </a:pPr>
            <a:r>
              <a:rPr lang="en-US" sz="6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PENELITIAN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80938" y="6209720"/>
            <a:ext cx="2272659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1.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80938" y="7121345"/>
            <a:ext cx="651531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Merancang dan membangun aplikasi kasir dan manajemen pemesanan berbasis web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29628" y="2423215"/>
            <a:ext cx="2272659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29628" y="3334840"/>
            <a:ext cx="651531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Mengintegrasikan sistem dengan berbagai metode pembayaran digital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29628" y="3950790"/>
            <a:ext cx="2272659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3.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29628" y="4862415"/>
            <a:ext cx="651531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Mengembangkan dashboard analitik penjualan secara real-time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29628" y="5478365"/>
            <a:ext cx="2272659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4.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29628" y="6389991"/>
            <a:ext cx="651531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Mengimplementasikan pemesanan jarak jauh dan pelacakan pesanan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29628" y="7005940"/>
            <a:ext cx="2272659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5.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29628" y="7917566"/>
            <a:ext cx="651531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Menguji sistem menggunakan Black Box Testing dan UAT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4215" y="2167922"/>
            <a:ext cx="8385238" cy="8221948"/>
            <a:chOff x="0" y="0"/>
            <a:chExt cx="6267323" cy="6145276"/>
          </a:xfrm>
        </p:grpSpPr>
        <p:sp>
          <p:nvSpPr>
            <p:cNvPr id="3" name="Freeform 3"/>
            <p:cNvSpPr/>
            <p:nvPr/>
          </p:nvSpPr>
          <p:spPr>
            <a:xfrm>
              <a:off x="0" y="-44"/>
              <a:ext cx="6267334" cy="6145193"/>
            </a:xfrm>
            <a:custGeom>
              <a:avLst/>
              <a:gdLst/>
              <a:ahLst/>
              <a:cxnLst/>
              <a:rect l="l" t="t" r="r" b="b"/>
              <a:pathLst>
                <a:path w="6267334" h="6145193">
                  <a:moveTo>
                    <a:pt x="6064631" y="1265091"/>
                  </a:moveTo>
                  <a:cubicBezTo>
                    <a:pt x="6221603" y="1299254"/>
                    <a:pt x="6305296" y="1450765"/>
                    <a:pt x="6250559" y="1601895"/>
                  </a:cubicBezTo>
                  <a:lnTo>
                    <a:pt x="4703953" y="5870619"/>
                  </a:lnTo>
                  <a:cubicBezTo>
                    <a:pt x="4649216" y="6021622"/>
                    <a:pt x="4473067" y="6145193"/>
                    <a:pt x="4312412" y="6145193"/>
                  </a:cubicBezTo>
                  <a:lnTo>
                    <a:pt x="292100" y="6145193"/>
                  </a:lnTo>
                  <a:cubicBezTo>
                    <a:pt x="131445" y="6145193"/>
                    <a:pt x="0" y="6013748"/>
                    <a:pt x="0" y="5853093"/>
                  </a:cubicBezTo>
                  <a:lnTo>
                    <a:pt x="0" y="236518"/>
                  </a:lnTo>
                  <a:cubicBezTo>
                    <a:pt x="0" y="75863"/>
                    <a:pt x="128397" y="-27642"/>
                    <a:pt x="285369" y="6521"/>
                  </a:cubicBezTo>
                  <a:lnTo>
                    <a:pt x="6064631" y="1265091"/>
                  </a:lnTo>
                  <a:close/>
                </a:path>
              </a:pathLst>
            </a:custGeom>
            <a:blipFill>
              <a:blip r:embed="rId2"/>
              <a:stretch>
                <a:fillRect l="-34743" r="-13411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-5400000">
            <a:off x="15952276" y="5227703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1"/>
                </a:lnTo>
                <a:lnTo>
                  <a:pt x="0" y="985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-2335724" y="5227703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1"/>
                </a:lnTo>
                <a:lnTo>
                  <a:pt x="0" y="985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782217" y="-2903283"/>
            <a:ext cx="5071205" cy="5071205"/>
          </a:xfrm>
          <a:custGeom>
            <a:avLst/>
            <a:gdLst/>
            <a:ahLst/>
            <a:cxnLst/>
            <a:rect l="l" t="t" r="r" b="b"/>
            <a:pathLst>
              <a:path w="5071205" h="5071205">
                <a:moveTo>
                  <a:pt x="0" y="0"/>
                </a:moveTo>
                <a:lnTo>
                  <a:pt x="5071206" y="0"/>
                </a:lnTo>
                <a:lnTo>
                  <a:pt x="5071206" y="5071205"/>
                </a:lnTo>
                <a:lnTo>
                  <a:pt x="0" y="5071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828885" y="8056053"/>
            <a:ext cx="1625539" cy="1625539"/>
          </a:xfrm>
          <a:custGeom>
            <a:avLst/>
            <a:gdLst/>
            <a:ahLst/>
            <a:cxnLst/>
            <a:rect l="l" t="t" r="r" b="b"/>
            <a:pathLst>
              <a:path w="1625539" h="1625539">
                <a:moveTo>
                  <a:pt x="0" y="0"/>
                </a:moveTo>
                <a:lnTo>
                  <a:pt x="1625539" y="0"/>
                </a:lnTo>
                <a:lnTo>
                  <a:pt x="1625539" y="1625539"/>
                </a:lnTo>
                <a:lnTo>
                  <a:pt x="0" y="1625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007896" y="9323181"/>
            <a:ext cx="2619848" cy="30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6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SIDANG KOMPREHENSIF</a:t>
            </a:r>
          </a:p>
        </p:txBody>
      </p:sp>
      <p:sp>
        <p:nvSpPr>
          <p:cNvPr id="9" name="Freeform 9"/>
          <p:cNvSpPr/>
          <p:nvPr/>
        </p:nvSpPr>
        <p:spPr>
          <a:xfrm>
            <a:off x="1394542" y="2101281"/>
            <a:ext cx="1040063" cy="1040063"/>
          </a:xfrm>
          <a:custGeom>
            <a:avLst/>
            <a:gdLst/>
            <a:ahLst/>
            <a:cxnLst/>
            <a:rect l="l" t="t" r="r" b="b"/>
            <a:pathLst>
              <a:path w="1040063" h="1040063">
                <a:moveTo>
                  <a:pt x="0" y="0"/>
                </a:moveTo>
                <a:lnTo>
                  <a:pt x="1040063" y="0"/>
                </a:lnTo>
                <a:lnTo>
                  <a:pt x="1040063" y="1040063"/>
                </a:lnTo>
                <a:lnTo>
                  <a:pt x="0" y="10400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16627744" y="9318242"/>
            <a:ext cx="0" cy="304475"/>
          </a:xfrm>
          <a:prstGeom prst="line">
            <a:avLst/>
          </a:prstGeom>
          <a:ln w="381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2531067" y="1771682"/>
            <a:ext cx="13078155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6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MANFAAT PENELITIAN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656111" y="9255507"/>
            <a:ext cx="5972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07072" y="3581538"/>
            <a:ext cx="6560476" cy="459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just">
              <a:lnSpc>
                <a:spcPts val="28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Bagi Pemilik Usaha</a:t>
            </a:r>
          </a:p>
          <a:p>
            <a:pPr marL="431802" lvl="1" indent="-215901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Mempermudah pengelolaan transaksi, pesanan, dan laporan penjualan</a:t>
            </a:r>
          </a:p>
          <a:p>
            <a:pPr marL="431802" lvl="1" indent="-215901" algn="just">
              <a:lnSpc>
                <a:spcPts val="28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Bagi Pelanggan</a:t>
            </a:r>
          </a:p>
          <a:p>
            <a:pPr marL="431802" lvl="1" indent="-215901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Kemudahan pemesanan dan pelacakan pesanan secara online</a:t>
            </a:r>
          </a:p>
          <a:p>
            <a:pPr marL="431802" lvl="1" indent="-215901" algn="just">
              <a:lnSpc>
                <a:spcPts val="28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Bagi Akademisi</a:t>
            </a:r>
          </a:p>
          <a:p>
            <a:pPr marL="431802" lvl="1" indent="-215901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Referensi penelitian sistem berbasis Laravel dan Agile</a:t>
            </a:r>
          </a:p>
          <a:p>
            <a:pPr marL="431802" lvl="1" indent="-215901" algn="just">
              <a:lnSpc>
                <a:spcPts val="28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Bagi Pengembang Sistem</a:t>
            </a:r>
          </a:p>
          <a:p>
            <a:pPr marL="431802" lvl="1" indent="-215901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Acuan penerapan Agile, pembayaran digital, dan analitik penjualan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2335724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007896" y="9323181"/>
            <a:ext cx="2619848" cy="30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6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SIDANG KOMPREHENSIF</a:t>
            </a:r>
          </a:p>
        </p:txBody>
      </p:sp>
      <p:sp>
        <p:nvSpPr>
          <p:cNvPr id="5" name="AutoShape 5"/>
          <p:cNvSpPr/>
          <p:nvPr/>
        </p:nvSpPr>
        <p:spPr>
          <a:xfrm>
            <a:off x="16627744" y="9318242"/>
            <a:ext cx="0" cy="30447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2090355" y="2359638"/>
            <a:ext cx="14107290" cy="5567725"/>
          </a:xfrm>
          <a:custGeom>
            <a:avLst/>
            <a:gdLst/>
            <a:ahLst/>
            <a:cxnLst/>
            <a:rect l="l" t="t" r="r" b="b"/>
            <a:pathLst>
              <a:path w="14107290" h="5567725">
                <a:moveTo>
                  <a:pt x="0" y="0"/>
                </a:moveTo>
                <a:lnTo>
                  <a:pt x="14107290" y="0"/>
                </a:lnTo>
                <a:lnTo>
                  <a:pt x="14107290" y="5567724"/>
                </a:lnTo>
                <a:lnTo>
                  <a:pt x="0" y="5567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656111" y="9255507"/>
            <a:ext cx="5972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51914" y="632460"/>
            <a:ext cx="8984172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6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TINJAUAN PUSTAKA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952276" y="5227703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1"/>
                </a:lnTo>
                <a:lnTo>
                  <a:pt x="0" y="985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2335724" y="5227703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1"/>
                </a:lnTo>
                <a:lnTo>
                  <a:pt x="0" y="985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782217" y="-2903283"/>
            <a:ext cx="5071205" cy="5071205"/>
          </a:xfrm>
          <a:custGeom>
            <a:avLst/>
            <a:gdLst/>
            <a:ahLst/>
            <a:cxnLst/>
            <a:rect l="l" t="t" r="r" b="b"/>
            <a:pathLst>
              <a:path w="5071205" h="5071205">
                <a:moveTo>
                  <a:pt x="0" y="0"/>
                </a:moveTo>
                <a:lnTo>
                  <a:pt x="5071206" y="0"/>
                </a:lnTo>
                <a:lnTo>
                  <a:pt x="5071206" y="5071205"/>
                </a:lnTo>
                <a:lnTo>
                  <a:pt x="0" y="5071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821204" y="7997178"/>
            <a:ext cx="1625539" cy="1625539"/>
          </a:xfrm>
          <a:custGeom>
            <a:avLst/>
            <a:gdLst/>
            <a:ahLst/>
            <a:cxnLst/>
            <a:rect l="l" t="t" r="r" b="b"/>
            <a:pathLst>
              <a:path w="1625539" h="1625539">
                <a:moveTo>
                  <a:pt x="0" y="0"/>
                </a:moveTo>
                <a:lnTo>
                  <a:pt x="1625539" y="0"/>
                </a:lnTo>
                <a:lnTo>
                  <a:pt x="1625539" y="1625539"/>
                </a:lnTo>
                <a:lnTo>
                  <a:pt x="0" y="1625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007896" y="9323181"/>
            <a:ext cx="2619848" cy="30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6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SIDANG KOMPREHENSIF</a:t>
            </a:r>
          </a:p>
        </p:txBody>
      </p:sp>
      <p:sp>
        <p:nvSpPr>
          <p:cNvPr id="7" name="Freeform 7"/>
          <p:cNvSpPr/>
          <p:nvPr/>
        </p:nvSpPr>
        <p:spPr>
          <a:xfrm>
            <a:off x="1028700" y="786747"/>
            <a:ext cx="1040063" cy="1040063"/>
          </a:xfrm>
          <a:custGeom>
            <a:avLst/>
            <a:gdLst/>
            <a:ahLst/>
            <a:cxnLst/>
            <a:rect l="l" t="t" r="r" b="b"/>
            <a:pathLst>
              <a:path w="1040063" h="1040063">
                <a:moveTo>
                  <a:pt x="0" y="0"/>
                </a:moveTo>
                <a:lnTo>
                  <a:pt x="1040063" y="0"/>
                </a:lnTo>
                <a:lnTo>
                  <a:pt x="1040063" y="1040063"/>
                </a:lnTo>
                <a:lnTo>
                  <a:pt x="0" y="10400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16627744" y="9318242"/>
            <a:ext cx="0" cy="304475"/>
          </a:xfrm>
          <a:prstGeom prst="line">
            <a:avLst/>
          </a:prstGeom>
          <a:ln w="381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2093325" y="786747"/>
            <a:ext cx="5727879" cy="8835970"/>
          </a:xfrm>
          <a:custGeom>
            <a:avLst/>
            <a:gdLst/>
            <a:ahLst/>
            <a:cxnLst/>
            <a:rect l="l" t="t" r="r" b="b"/>
            <a:pathLst>
              <a:path w="5727879" h="8835970">
                <a:moveTo>
                  <a:pt x="0" y="0"/>
                </a:moveTo>
                <a:lnTo>
                  <a:pt x="5727879" y="0"/>
                </a:lnTo>
                <a:lnTo>
                  <a:pt x="5727879" y="8835970"/>
                </a:lnTo>
                <a:lnTo>
                  <a:pt x="0" y="8835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243140" y="4715748"/>
            <a:ext cx="13078155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6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METODOLOGI PENELITIAN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656111" y="9255507"/>
            <a:ext cx="5972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2382761" y="1240218"/>
            <a:ext cx="12026918" cy="7806563"/>
          </a:xfrm>
          <a:custGeom>
            <a:avLst/>
            <a:gdLst/>
            <a:ahLst/>
            <a:cxnLst/>
            <a:rect l="l" t="t" r="r" b="b"/>
            <a:pathLst>
              <a:path w="12026918" h="7806563">
                <a:moveTo>
                  <a:pt x="0" y="0"/>
                </a:moveTo>
                <a:lnTo>
                  <a:pt x="12026919" y="0"/>
                </a:lnTo>
                <a:lnTo>
                  <a:pt x="12026919" y="7806564"/>
                </a:lnTo>
                <a:lnTo>
                  <a:pt x="0" y="7806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007896" y="9303132"/>
            <a:ext cx="3245450" cy="374650"/>
            <a:chOff x="0" y="0"/>
            <a:chExt cx="4327267" cy="499533"/>
          </a:xfrm>
        </p:grpSpPr>
        <p:sp>
          <p:nvSpPr>
            <p:cNvPr id="4" name="TextBox 4"/>
            <p:cNvSpPr txBox="1"/>
            <p:nvPr/>
          </p:nvSpPr>
          <p:spPr>
            <a:xfrm>
              <a:off x="0" y="39432"/>
              <a:ext cx="3493131" cy="387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6"/>
                </a:lnSpc>
              </a:pPr>
              <a:r>
                <a:rPr lang="en-US" sz="1726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SIDANG KOMPREHENSIF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530953" y="-47625"/>
              <a:ext cx="796314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10</a:t>
              </a:r>
            </a:p>
          </p:txBody>
        </p:sp>
        <p:sp>
          <p:nvSpPr>
            <p:cNvPr id="6" name="AutoShape 6"/>
            <p:cNvSpPr/>
            <p:nvPr/>
          </p:nvSpPr>
          <p:spPr>
            <a:xfrm>
              <a:off x="3493131" y="20147"/>
              <a:ext cx="0" cy="405967"/>
            </a:xfrm>
            <a:prstGeom prst="line">
              <a:avLst/>
            </a:prstGeom>
            <a:ln w="50800" cap="flat">
              <a:solidFill>
                <a:srgbClr val="2D3E56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470309" y="3432372"/>
            <a:ext cx="63671" cy="3422255"/>
            <a:chOff x="0" y="0"/>
            <a:chExt cx="16769" cy="9013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769" cy="901335"/>
            </a:xfrm>
            <a:custGeom>
              <a:avLst/>
              <a:gdLst/>
              <a:ahLst/>
              <a:cxnLst/>
              <a:rect l="l" t="t" r="r" b="b"/>
              <a:pathLst>
                <a:path w="16769" h="901335">
                  <a:moveTo>
                    <a:pt x="0" y="0"/>
                  </a:moveTo>
                  <a:lnTo>
                    <a:pt x="16769" y="0"/>
                  </a:lnTo>
                  <a:lnTo>
                    <a:pt x="16769" y="901335"/>
                  </a:lnTo>
                  <a:lnTo>
                    <a:pt x="0" y="9013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769" cy="939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5400000">
            <a:off x="-2335724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07937" y="2054167"/>
            <a:ext cx="8238222" cy="6178666"/>
          </a:xfrm>
          <a:custGeom>
            <a:avLst/>
            <a:gdLst/>
            <a:ahLst/>
            <a:cxnLst/>
            <a:rect l="l" t="t" r="r" b="b"/>
            <a:pathLst>
              <a:path w="8238222" h="6178666">
                <a:moveTo>
                  <a:pt x="0" y="0"/>
                </a:moveTo>
                <a:lnTo>
                  <a:pt x="8238222" y="0"/>
                </a:lnTo>
                <a:lnTo>
                  <a:pt x="8238222" y="6178666"/>
                </a:lnTo>
                <a:lnTo>
                  <a:pt x="0" y="6178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9251656" y="2054167"/>
            <a:ext cx="8238222" cy="6178666"/>
          </a:xfrm>
          <a:custGeom>
            <a:avLst/>
            <a:gdLst/>
            <a:ahLst/>
            <a:cxnLst/>
            <a:rect l="l" t="t" r="r" b="b"/>
            <a:pathLst>
              <a:path w="8238222" h="6178666">
                <a:moveTo>
                  <a:pt x="0" y="0"/>
                </a:moveTo>
                <a:lnTo>
                  <a:pt x="8238222" y="0"/>
                </a:lnTo>
                <a:lnTo>
                  <a:pt x="8238222" y="6178666"/>
                </a:lnTo>
                <a:lnTo>
                  <a:pt x="0" y="61786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4" name="TextBox 14"/>
          <p:cNvSpPr txBox="1"/>
          <p:nvPr/>
        </p:nvSpPr>
        <p:spPr>
          <a:xfrm>
            <a:off x="5623958" y="57150"/>
            <a:ext cx="7746809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60"/>
              </a:lnSpc>
            </a:pPr>
            <a:r>
              <a:rPr lang="en-US" sz="6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WIREFRAME 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2382761" y="1240218"/>
            <a:ext cx="12026918" cy="7806563"/>
          </a:xfrm>
          <a:custGeom>
            <a:avLst/>
            <a:gdLst/>
            <a:ahLst/>
            <a:cxnLst/>
            <a:rect l="l" t="t" r="r" b="b"/>
            <a:pathLst>
              <a:path w="12026918" h="7806563">
                <a:moveTo>
                  <a:pt x="0" y="0"/>
                </a:moveTo>
                <a:lnTo>
                  <a:pt x="12026919" y="0"/>
                </a:lnTo>
                <a:lnTo>
                  <a:pt x="12026919" y="7806564"/>
                </a:lnTo>
                <a:lnTo>
                  <a:pt x="0" y="7806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007896" y="9303132"/>
            <a:ext cx="3245450" cy="374650"/>
            <a:chOff x="0" y="0"/>
            <a:chExt cx="4327267" cy="499533"/>
          </a:xfrm>
        </p:grpSpPr>
        <p:sp>
          <p:nvSpPr>
            <p:cNvPr id="4" name="TextBox 4"/>
            <p:cNvSpPr txBox="1"/>
            <p:nvPr/>
          </p:nvSpPr>
          <p:spPr>
            <a:xfrm>
              <a:off x="0" y="39432"/>
              <a:ext cx="3493131" cy="387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6"/>
                </a:lnSpc>
              </a:pPr>
              <a:r>
                <a:rPr lang="en-US" sz="1726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SIDANG KOMPREHENSIF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530953" y="-47625"/>
              <a:ext cx="796314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11</a:t>
              </a:r>
            </a:p>
          </p:txBody>
        </p:sp>
        <p:sp>
          <p:nvSpPr>
            <p:cNvPr id="6" name="AutoShape 6"/>
            <p:cNvSpPr/>
            <p:nvPr/>
          </p:nvSpPr>
          <p:spPr>
            <a:xfrm>
              <a:off x="3493131" y="20147"/>
              <a:ext cx="0" cy="405967"/>
            </a:xfrm>
            <a:prstGeom prst="line">
              <a:avLst/>
            </a:prstGeom>
            <a:ln w="50800" cap="flat">
              <a:solidFill>
                <a:srgbClr val="2D3E56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470309" y="3432372"/>
            <a:ext cx="63671" cy="3422255"/>
            <a:chOff x="0" y="0"/>
            <a:chExt cx="16769" cy="9013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769" cy="901335"/>
            </a:xfrm>
            <a:custGeom>
              <a:avLst/>
              <a:gdLst/>
              <a:ahLst/>
              <a:cxnLst/>
              <a:rect l="l" t="t" r="r" b="b"/>
              <a:pathLst>
                <a:path w="16769" h="901335">
                  <a:moveTo>
                    <a:pt x="0" y="0"/>
                  </a:moveTo>
                  <a:lnTo>
                    <a:pt x="16769" y="0"/>
                  </a:lnTo>
                  <a:lnTo>
                    <a:pt x="16769" y="901335"/>
                  </a:lnTo>
                  <a:lnTo>
                    <a:pt x="0" y="9013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769" cy="939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5400000">
            <a:off x="-2335724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53030" y="2054167"/>
            <a:ext cx="8238222" cy="6178666"/>
          </a:xfrm>
          <a:custGeom>
            <a:avLst/>
            <a:gdLst/>
            <a:ahLst/>
            <a:cxnLst/>
            <a:rect l="l" t="t" r="r" b="b"/>
            <a:pathLst>
              <a:path w="8238222" h="6178666">
                <a:moveTo>
                  <a:pt x="0" y="0"/>
                </a:moveTo>
                <a:lnTo>
                  <a:pt x="8238222" y="0"/>
                </a:lnTo>
                <a:lnTo>
                  <a:pt x="8238222" y="6178666"/>
                </a:lnTo>
                <a:lnTo>
                  <a:pt x="0" y="6178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9274202" y="2054167"/>
            <a:ext cx="8238222" cy="6178666"/>
          </a:xfrm>
          <a:custGeom>
            <a:avLst/>
            <a:gdLst/>
            <a:ahLst/>
            <a:cxnLst/>
            <a:rect l="l" t="t" r="r" b="b"/>
            <a:pathLst>
              <a:path w="8238222" h="6178666">
                <a:moveTo>
                  <a:pt x="0" y="0"/>
                </a:moveTo>
                <a:lnTo>
                  <a:pt x="8238222" y="0"/>
                </a:lnTo>
                <a:lnTo>
                  <a:pt x="8238222" y="6178666"/>
                </a:lnTo>
                <a:lnTo>
                  <a:pt x="0" y="61786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4" name="TextBox 14"/>
          <p:cNvSpPr txBox="1"/>
          <p:nvPr/>
        </p:nvSpPr>
        <p:spPr>
          <a:xfrm>
            <a:off x="4827048" y="57150"/>
            <a:ext cx="7746809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60"/>
              </a:lnSpc>
            </a:pPr>
            <a:r>
              <a:rPr lang="en-US" sz="6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WIREFRAME INPUT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8371259" y="1240218"/>
            <a:ext cx="12026918" cy="7806563"/>
          </a:xfrm>
          <a:custGeom>
            <a:avLst/>
            <a:gdLst/>
            <a:ahLst/>
            <a:cxnLst/>
            <a:rect l="l" t="t" r="r" b="b"/>
            <a:pathLst>
              <a:path w="12026918" h="7806563">
                <a:moveTo>
                  <a:pt x="0" y="0"/>
                </a:moveTo>
                <a:lnTo>
                  <a:pt x="12026918" y="0"/>
                </a:lnTo>
                <a:lnTo>
                  <a:pt x="12026918" y="7806564"/>
                </a:lnTo>
                <a:lnTo>
                  <a:pt x="0" y="7806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9258300"/>
            <a:ext cx="3245450" cy="374650"/>
            <a:chOff x="0" y="0"/>
            <a:chExt cx="4327267" cy="499533"/>
          </a:xfrm>
        </p:grpSpPr>
        <p:sp>
          <p:nvSpPr>
            <p:cNvPr id="4" name="TextBox 4"/>
            <p:cNvSpPr txBox="1"/>
            <p:nvPr/>
          </p:nvSpPr>
          <p:spPr>
            <a:xfrm>
              <a:off x="0" y="39432"/>
              <a:ext cx="3493131" cy="387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6"/>
                </a:lnSpc>
              </a:pPr>
              <a:r>
                <a:rPr lang="en-US" sz="1726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SIDANG KOMPREHENSIF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530953" y="-47625"/>
              <a:ext cx="796314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12</a:t>
              </a:r>
            </a:p>
          </p:txBody>
        </p:sp>
        <p:sp>
          <p:nvSpPr>
            <p:cNvPr id="6" name="AutoShape 6"/>
            <p:cNvSpPr/>
            <p:nvPr/>
          </p:nvSpPr>
          <p:spPr>
            <a:xfrm>
              <a:off x="3493131" y="20147"/>
              <a:ext cx="0" cy="405967"/>
            </a:xfrm>
            <a:prstGeom prst="line">
              <a:avLst/>
            </a:prstGeom>
            <a:ln w="50800" cap="flat">
              <a:solidFill>
                <a:srgbClr val="2D3E56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470309" y="3432372"/>
            <a:ext cx="63671" cy="3422255"/>
            <a:chOff x="0" y="0"/>
            <a:chExt cx="16769" cy="9013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769" cy="901335"/>
            </a:xfrm>
            <a:custGeom>
              <a:avLst/>
              <a:gdLst/>
              <a:ahLst/>
              <a:cxnLst/>
              <a:rect l="l" t="t" r="r" b="b"/>
              <a:pathLst>
                <a:path w="16769" h="901335">
                  <a:moveTo>
                    <a:pt x="0" y="0"/>
                  </a:moveTo>
                  <a:lnTo>
                    <a:pt x="16769" y="0"/>
                  </a:lnTo>
                  <a:lnTo>
                    <a:pt x="16769" y="901335"/>
                  </a:lnTo>
                  <a:lnTo>
                    <a:pt x="0" y="9013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769" cy="939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5400000">
            <a:off x="-2335724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284396" y="2226030"/>
            <a:ext cx="8263209" cy="6195226"/>
          </a:xfrm>
          <a:custGeom>
            <a:avLst/>
            <a:gdLst/>
            <a:ahLst/>
            <a:cxnLst/>
            <a:rect l="l" t="t" r="r" b="b"/>
            <a:pathLst>
              <a:path w="8263209" h="6195226">
                <a:moveTo>
                  <a:pt x="0" y="0"/>
                </a:moveTo>
                <a:lnTo>
                  <a:pt x="8263210" y="0"/>
                </a:lnTo>
                <a:lnTo>
                  <a:pt x="8263210" y="6195226"/>
                </a:lnTo>
                <a:lnTo>
                  <a:pt x="0" y="61952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768512" y="2226030"/>
            <a:ext cx="8239998" cy="6195226"/>
          </a:xfrm>
          <a:custGeom>
            <a:avLst/>
            <a:gdLst/>
            <a:ahLst/>
            <a:cxnLst/>
            <a:rect l="l" t="t" r="r" b="b"/>
            <a:pathLst>
              <a:path w="8239998" h="6195226">
                <a:moveTo>
                  <a:pt x="0" y="0"/>
                </a:moveTo>
                <a:lnTo>
                  <a:pt x="8239998" y="0"/>
                </a:lnTo>
                <a:lnTo>
                  <a:pt x="8239998" y="6195226"/>
                </a:lnTo>
                <a:lnTo>
                  <a:pt x="0" y="61952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4" name="TextBox 14"/>
          <p:cNvSpPr txBox="1"/>
          <p:nvPr/>
        </p:nvSpPr>
        <p:spPr>
          <a:xfrm>
            <a:off x="4827048" y="57150"/>
            <a:ext cx="8805953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60"/>
              </a:lnSpc>
            </a:pPr>
            <a:r>
              <a:rPr lang="en-US" sz="6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HASIL HALAMAN 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8371259" y="1240218"/>
            <a:ext cx="12026918" cy="7806563"/>
          </a:xfrm>
          <a:custGeom>
            <a:avLst/>
            <a:gdLst/>
            <a:ahLst/>
            <a:cxnLst/>
            <a:rect l="l" t="t" r="r" b="b"/>
            <a:pathLst>
              <a:path w="12026918" h="7806563">
                <a:moveTo>
                  <a:pt x="0" y="0"/>
                </a:moveTo>
                <a:lnTo>
                  <a:pt x="12026918" y="0"/>
                </a:lnTo>
                <a:lnTo>
                  <a:pt x="12026918" y="7806564"/>
                </a:lnTo>
                <a:lnTo>
                  <a:pt x="0" y="7806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9258300"/>
            <a:ext cx="3245450" cy="374650"/>
            <a:chOff x="0" y="0"/>
            <a:chExt cx="4327267" cy="499533"/>
          </a:xfrm>
        </p:grpSpPr>
        <p:sp>
          <p:nvSpPr>
            <p:cNvPr id="4" name="TextBox 4"/>
            <p:cNvSpPr txBox="1"/>
            <p:nvPr/>
          </p:nvSpPr>
          <p:spPr>
            <a:xfrm>
              <a:off x="0" y="39432"/>
              <a:ext cx="3493131" cy="387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6"/>
                </a:lnSpc>
              </a:pPr>
              <a:r>
                <a:rPr lang="en-US" sz="1726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SIDANG KOMPREHENSIF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530953" y="-47625"/>
              <a:ext cx="796314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13</a:t>
              </a:r>
            </a:p>
          </p:txBody>
        </p:sp>
        <p:sp>
          <p:nvSpPr>
            <p:cNvPr id="6" name="AutoShape 6"/>
            <p:cNvSpPr/>
            <p:nvPr/>
          </p:nvSpPr>
          <p:spPr>
            <a:xfrm>
              <a:off x="3493131" y="20147"/>
              <a:ext cx="0" cy="405967"/>
            </a:xfrm>
            <a:prstGeom prst="line">
              <a:avLst/>
            </a:prstGeom>
            <a:ln w="50800" cap="flat">
              <a:solidFill>
                <a:srgbClr val="2D3E56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470309" y="3432372"/>
            <a:ext cx="63671" cy="3422255"/>
            <a:chOff x="0" y="0"/>
            <a:chExt cx="16769" cy="9013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769" cy="901335"/>
            </a:xfrm>
            <a:custGeom>
              <a:avLst/>
              <a:gdLst/>
              <a:ahLst/>
              <a:cxnLst/>
              <a:rect l="l" t="t" r="r" b="b"/>
              <a:pathLst>
                <a:path w="16769" h="901335">
                  <a:moveTo>
                    <a:pt x="0" y="0"/>
                  </a:moveTo>
                  <a:lnTo>
                    <a:pt x="16769" y="0"/>
                  </a:lnTo>
                  <a:lnTo>
                    <a:pt x="16769" y="901335"/>
                  </a:lnTo>
                  <a:lnTo>
                    <a:pt x="0" y="9013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769" cy="939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5400000">
            <a:off x="-2335724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04013" y="2077770"/>
            <a:ext cx="8385358" cy="6242433"/>
          </a:xfrm>
          <a:custGeom>
            <a:avLst/>
            <a:gdLst/>
            <a:ahLst/>
            <a:cxnLst/>
            <a:rect l="l" t="t" r="r" b="b"/>
            <a:pathLst>
              <a:path w="8385358" h="6242433">
                <a:moveTo>
                  <a:pt x="0" y="0"/>
                </a:moveTo>
                <a:lnTo>
                  <a:pt x="8385358" y="0"/>
                </a:lnTo>
                <a:lnTo>
                  <a:pt x="8385358" y="6242433"/>
                </a:lnTo>
                <a:lnTo>
                  <a:pt x="0" y="6242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9300759" y="2077770"/>
            <a:ext cx="8337856" cy="6242433"/>
          </a:xfrm>
          <a:custGeom>
            <a:avLst/>
            <a:gdLst/>
            <a:ahLst/>
            <a:cxnLst/>
            <a:rect l="l" t="t" r="r" b="b"/>
            <a:pathLst>
              <a:path w="8337856" h="6242433">
                <a:moveTo>
                  <a:pt x="0" y="0"/>
                </a:moveTo>
                <a:lnTo>
                  <a:pt x="8337856" y="0"/>
                </a:lnTo>
                <a:lnTo>
                  <a:pt x="8337856" y="6242433"/>
                </a:lnTo>
                <a:lnTo>
                  <a:pt x="0" y="62424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4" name="TextBox 14"/>
          <p:cNvSpPr txBox="1"/>
          <p:nvPr/>
        </p:nvSpPr>
        <p:spPr>
          <a:xfrm>
            <a:off x="4827048" y="57150"/>
            <a:ext cx="8249202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60"/>
              </a:lnSpc>
            </a:pPr>
            <a:r>
              <a:rPr lang="en-US" sz="6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HASIL HALAMAN INPUT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2335724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007896" y="9323181"/>
            <a:ext cx="2619848" cy="30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6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SIDANG KOMPREHENSIF</a:t>
            </a:r>
          </a:p>
        </p:txBody>
      </p:sp>
      <p:sp>
        <p:nvSpPr>
          <p:cNvPr id="5" name="AutoShape 5"/>
          <p:cNvSpPr/>
          <p:nvPr/>
        </p:nvSpPr>
        <p:spPr>
          <a:xfrm>
            <a:off x="16627744" y="9318242"/>
            <a:ext cx="0" cy="30447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2079644" y="2425658"/>
            <a:ext cx="7120599" cy="5435684"/>
          </a:xfrm>
          <a:custGeom>
            <a:avLst/>
            <a:gdLst/>
            <a:ahLst/>
            <a:cxnLst/>
            <a:rect l="l" t="t" r="r" b="b"/>
            <a:pathLst>
              <a:path w="7120599" h="5435684">
                <a:moveTo>
                  <a:pt x="0" y="0"/>
                </a:moveTo>
                <a:lnTo>
                  <a:pt x="7120599" y="0"/>
                </a:lnTo>
                <a:lnTo>
                  <a:pt x="7120599" y="5435684"/>
                </a:lnTo>
                <a:lnTo>
                  <a:pt x="0" y="5435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656111" y="9255507"/>
            <a:ext cx="5972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14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11271" y="2339933"/>
            <a:ext cx="6032717" cy="2657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8988" lvl="1" indent="-324494" algn="just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Total Pengujian: 9</a:t>
            </a:r>
          </a:p>
          <a:p>
            <a:pPr marL="648988" lvl="1" indent="-324494" algn="just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Berhasil: 9</a:t>
            </a:r>
          </a:p>
          <a:p>
            <a:pPr marL="648988" lvl="1" indent="-324494" algn="just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Gagal: 0</a:t>
            </a:r>
          </a:p>
          <a:p>
            <a:pPr marL="648988" lvl="1" indent="-324494" algn="just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Tingkat Keberhasilan: 100%</a:t>
            </a:r>
          </a:p>
          <a:p>
            <a:pPr algn="just">
              <a:lnSpc>
                <a:spcPts val="4208"/>
              </a:lnSpc>
            </a:pPr>
            <a:endParaRPr lang="en-US" sz="3005">
              <a:solidFill>
                <a:srgbClr val="FFFFF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079644" y="632460"/>
            <a:ext cx="14128711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6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HASIL PENGUJIAN BLACK BOX TESTING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46199" y="4830945"/>
            <a:ext cx="7008529" cy="2857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676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Seluruh fitur utama sistem, meliputi manajemen pengguna, pemesanan, pembayaran, pelacakan pesanan, dan dashboard analitik telah berhasil diuji menggunakan metode Black Box Testing dengan tingkat keberhasilan 100%.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2335724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007896" y="9323181"/>
            <a:ext cx="2619848" cy="30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6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SIDANG KOMPREHENSIF</a:t>
            </a:r>
          </a:p>
        </p:txBody>
      </p:sp>
      <p:sp>
        <p:nvSpPr>
          <p:cNvPr id="5" name="AutoShape 5"/>
          <p:cNvSpPr/>
          <p:nvPr/>
        </p:nvSpPr>
        <p:spPr>
          <a:xfrm>
            <a:off x="16627744" y="9318242"/>
            <a:ext cx="0" cy="30447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477211" y="1677476"/>
            <a:ext cx="8782089" cy="5488806"/>
          </a:xfrm>
          <a:custGeom>
            <a:avLst/>
            <a:gdLst/>
            <a:ahLst/>
            <a:cxnLst/>
            <a:rect l="l" t="t" r="r" b="b"/>
            <a:pathLst>
              <a:path w="8782089" h="5488806">
                <a:moveTo>
                  <a:pt x="0" y="0"/>
                </a:moveTo>
                <a:lnTo>
                  <a:pt x="8782089" y="0"/>
                </a:lnTo>
                <a:lnTo>
                  <a:pt x="8782089" y="5488806"/>
                </a:lnTo>
                <a:lnTo>
                  <a:pt x="0" y="5488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16656111" y="9255507"/>
            <a:ext cx="5972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79644" y="632460"/>
            <a:ext cx="14128711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6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HASIL USER ACCEPTANCE TESTING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9898" y="1591751"/>
            <a:ext cx="7960102" cy="3719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5"/>
              </a:lnSpc>
            </a:pPr>
            <a:r>
              <a:rPr lang="en-US" sz="3039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  Tujuan Pengujian </a:t>
            </a:r>
          </a:p>
          <a:p>
            <a:pPr marL="656327" lvl="1" indent="-328164" algn="l">
              <a:lnSpc>
                <a:spcPts val="4255"/>
              </a:lnSpc>
              <a:buFont typeface="Arial"/>
              <a:buChar char="•"/>
            </a:pPr>
            <a:r>
              <a:rPr lang="en-US" sz="3039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Mengukur tingkat penerimaan pengguna terhadap sistem yang telah dikembangkan.</a:t>
            </a:r>
          </a:p>
          <a:p>
            <a:pPr marL="656327" lvl="1" indent="-328164" algn="l">
              <a:lnSpc>
                <a:spcPts val="4255"/>
              </a:lnSpc>
              <a:buFont typeface="Arial"/>
              <a:buChar char="•"/>
            </a:pPr>
            <a:r>
              <a:rPr lang="en-US" sz="3039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Melibatkan 30 responden.</a:t>
            </a:r>
          </a:p>
          <a:p>
            <a:pPr marL="656327" lvl="1" indent="-328164" algn="l">
              <a:lnSpc>
                <a:spcPts val="4255"/>
              </a:lnSpc>
              <a:buFont typeface="Arial"/>
              <a:buChar char="•"/>
            </a:pPr>
            <a:r>
              <a:rPr lang="en-US" sz="3039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Menggunakan 15 pertanyaan dengan Skala Likert (1–5).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3898" y="5532874"/>
            <a:ext cx="7960102" cy="212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5"/>
              </a:lnSpc>
            </a:pPr>
            <a:r>
              <a:rPr lang="en-US" sz="3039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Perhitungan UAT</a:t>
            </a:r>
          </a:p>
          <a:p>
            <a:pPr algn="l">
              <a:lnSpc>
                <a:spcPts val="4255"/>
              </a:lnSpc>
            </a:pPr>
            <a:r>
              <a:rPr lang="en-US" sz="3039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Skor Aktual : 1.829</a:t>
            </a:r>
          </a:p>
          <a:p>
            <a:pPr algn="l">
              <a:lnSpc>
                <a:spcPts val="4255"/>
              </a:lnSpc>
            </a:pPr>
            <a:r>
              <a:rPr lang="en-US" sz="3039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Skor Maksimum : 15 × 30 × 5 = 2.250</a:t>
            </a:r>
          </a:p>
          <a:p>
            <a:pPr algn="l">
              <a:lnSpc>
                <a:spcPts val="4255"/>
              </a:lnSpc>
            </a:pPr>
            <a:r>
              <a:rPr lang="en-US" sz="3039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Presentase : 81,29%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3898" y="7880835"/>
            <a:ext cx="16069448" cy="212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5"/>
              </a:lnSpc>
            </a:pPr>
            <a:r>
              <a:rPr lang="en-US" sz="3039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Sistem memperoleh kategori "Sangat Setuju", yang menunjukkan bahwa pengguna menerima sistem dengan baik dan menilai fitur yang tersedia telah mendukung proses pemesanan percetakan secara efektif.</a:t>
            </a:r>
          </a:p>
          <a:p>
            <a:pPr algn="l">
              <a:lnSpc>
                <a:spcPts val="4255"/>
              </a:lnSpc>
            </a:pPr>
            <a:endParaRPr lang="en-US" sz="3039">
              <a:solidFill>
                <a:srgbClr val="FFFFF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952276" y="5227703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1"/>
                </a:lnTo>
                <a:lnTo>
                  <a:pt x="0" y="985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2335724" y="5227703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1"/>
                </a:lnTo>
                <a:lnTo>
                  <a:pt x="0" y="985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007896" y="9323181"/>
            <a:ext cx="2619848" cy="30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6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SIDANG KOMPREHENSIF</a:t>
            </a:r>
          </a:p>
        </p:txBody>
      </p:sp>
      <p:sp>
        <p:nvSpPr>
          <p:cNvPr id="5" name="AutoShape 5"/>
          <p:cNvSpPr/>
          <p:nvPr/>
        </p:nvSpPr>
        <p:spPr>
          <a:xfrm>
            <a:off x="16627744" y="9318242"/>
            <a:ext cx="0" cy="304475"/>
          </a:xfrm>
          <a:prstGeom prst="line">
            <a:avLst/>
          </a:prstGeom>
          <a:ln w="381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2604923" y="632460"/>
            <a:ext cx="13078155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6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KESIMPULAN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56111" y="9255507"/>
            <a:ext cx="5972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16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78258" y="2009775"/>
            <a:ext cx="7866993" cy="701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HASIL IMPLEMENTASI</a:t>
            </a: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Sistem POS dan Manajemen Pemesanan Berbasis web berhasil dikembangkan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Integrasi pembayaran: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QRIS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E-Wallet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Transfer Bank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Tunai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Cicilan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Pemesanan online dan pelacakan real-time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Dashboard analitik mendukung pengambilan keputusan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5224" y="2009775"/>
            <a:ext cx="7824254" cy="394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HASIL PENGUJIAN</a:t>
            </a:r>
          </a:p>
          <a:p>
            <a:pPr algn="just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Black Box Testing Seluruh fitur berjalan sesuaikebutuhan 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User Acceptance Testing (UAT)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Nilai: 81,29%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Kategori: Sangat Setuju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952276" y="5227703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1"/>
                </a:lnTo>
                <a:lnTo>
                  <a:pt x="0" y="985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2335724" y="5227703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1"/>
                </a:lnTo>
                <a:lnTo>
                  <a:pt x="0" y="985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007896" y="9323181"/>
            <a:ext cx="2619848" cy="30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6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SIDANG KOMPREHENSIF</a:t>
            </a:r>
          </a:p>
        </p:txBody>
      </p:sp>
      <p:sp>
        <p:nvSpPr>
          <p:cNvPr id="5" name="AutoShape 5"/>
          <p:cNvSpPr/>
          <p:nvPr/>
        </p:nvSpPr>
        <p:spPr>
          <a:xfrm>
            <a:off x="16627744" y="9318242"/>
            <a:ext cx="0" cy="304475"/>
          </a:xfrm>
          <a:prstGeom prst="line">
            <a:avLst/>
          </a:prstGeom>
          <a:ln w="381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2604923" y="632460"/>
            <a:ext cx="13078155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6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SARAN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56111" y="9255507"/>
            <a:ext cx="5972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17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61307" y="2035229"/>
            <a:ext cx="7444187" cy="263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Pengembangan Mobile Application</a:t>
            </a:r>
          </a:p>
          <a:p>
            <a:pPr algn="just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Mengembangkan sistem ke platform Android dan iOS agar customer dapat melakukan pemesanan serta memantau status pesanan dengan lebih mudah melalui smartphone.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10542" y="2035229"/>
            <a:ext cx="7444187" cy="263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Notifikasi Otomatis</a:t>
            </a: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Menambahkan fitur notifikasi otomatis melalui email atau aplikasi pesan instan untuk memberikan informasi terkait status pesanan, pembayaran, dan proses produksi.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10542" y="5076825"/>
            <a:ext cx="7444187" cy="263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Peningkatan Keamanan Sistem</a:t>
            </a:r>
          </a:p>
          <a:p>
            <a:pPr algn="just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Menerapkan fitur keamanan tambahan seperti Two-Factor Authentication (2FA) dan mekanisme perlindungan data untuk meningkatkan keamanan akun dan transaksi pengguna.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1307" y="5076825"/>
            <a:ext cx="7444187" cy="263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Pengembangan Penelitian Selanjutnya</a:t>
            </a:r>
          </a:p>
          <a:p>
            <a:pPr algn="l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Melibatkan jumlah responden yang lebih banyak pada pengujian User Acceptance Testing (UAT) agar hasil evaluasi kepuasan pengguna lebih representatif dan akurat.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387063"/>
            <a:ext cx="18288000" cy="6871237"/>
            <a:chOff x="0" y="0"/>
            <a:chExt cx="4816593" cy="18097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809709"/>
            </a:xfrm>
            <a:custGeom>
              <a:avLst/>
              <a:gdLst/>
              <a:ahLst/>
              <a:cxnLst/>
              <a:rect l="l" t="t" r="r" b="b"/>
              <a:pathLst>
                <a:path w="4816592" h="1809709">
                  <a:moveTo>
                    <a:pt x="0" y="0"/>
                  </a:moveTo>
                  <a:lnTo>
                    <a:pt x="4816592" y="0"/>
                  </a:lnTo>
                  <a:lnTo>
                    <a:pt x="4816592" y="1809709"/>
                  </a:lnTo>
                  <a:lnTo>
                    <a:pt x="0" y="1809709"/>
                  </a:lnTo>
                  <a:close/>
                </a:path>
              </a:pathLst>
            </a:custGeom>
            <a:solidFill>
              <a:srgbClr val="E6F5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847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15975" y="1449705"/>
            <a:ext cx="4498384" cy="6800350"/>
            <a:chOff x="0" y="0"/>
            <a:chExt cx="1184760" cy="17910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4760" cy="1791039"/>
            </a:xfrm>
            <a:custGeom>
              <a:avLst/>
              <a:gdLst/>
              <a:ahLst/>
              <a:cxnLst/>
              <a:rect l="l" t="t" r="r" b="b"/>
              <a:pathLst>
                <a:path w="1184760" h="1791039">
                  <a:moveTo>
                    <a:pt x="0" y="0"/>
                  </a:moveTo>
                  <a:lnTo>
                    <a:pt x="1184760" y="0"/>
                  </a:lnTo>
                  <a:lnTo>
                    <a:pt x="1184760" y="1791039"/>
                  </a:lnTo>
                  <a:lnTo>
                    <a:pt x="0" y="1791039"/>
                  </a:lnTo>
                  <a:close/>
                </a:path>
              </a:pathLst>
            </a:custGeom>
            <a:ln w="190500" cap="sq">
              <a:solidFill>
                <a:srgbClr val="2D3E56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84760" cy="1829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58393" y="2386672"/>
            <a:ext cx="14102455" cy="4926417"/>
            <a:chOff x="0" y="0"/>
            <a:chExt cx="3714227" cy="12974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4227" cy="1297493"/>
            </a:xfrm>
            <a:custGeom>
              <a:avLst/>
              <a:gdLst/>
              <a:ahLst/>
              <a:cxnLst/>
              <a:rect l="l" t="t" r="r" b="b"/>
              <a:pathLst>
                <a:path w="3714227" h="1297493">
                  <a:moveTo>
                    <a:pt x="0" y="0"/>
                  </a:moveTo>
                  <a:lnTo>
                    <a:pt x="3714227" y="0"/>
                  </a:lnTo>
                  <a:lnTo>
                    <a:pt x="3714227" y="1297493"/>
                  </a:lnTo>
                  <a:lnTo>
                    <a:pt x="0" y="1297493"/>
                  </a:lnTo>
                  <a:close/>
                </a:path>
              </a:pathLst>
            </a:custGeom>
            <a:solidFill>
              <a:srgbClr val="E6F5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714227" cy="1335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179769" y="6976887"/>
            <a:ext cx="672403" cy="672403"/>
          </a:xfrm>
          <a:custGeom>
            <a:avLst/>
            <a:gdLst/>
            <a:ahLst/>
            <a:cxnLst/>
            <a:rect l="l" t="t" r="r" b="b"/>
            <a:pathLst>
              <a:path w="672403" h="672403">
                <a:moveTo>
                  <a:pt x="0" y="0"/>
                </a:moveTo>
                <a:lnTo>
                  <a:pt x="672403" y="0"/>
                </a:lnTo>
                <a:lnTo>
                  <a:pt x="672403" y="672403"/>
                </a:lnTo>
                <a:lnTo>
                  <a:pt x="0" y="6724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591809" y="2803763"/>
            <a:ext cx="9104383" cy="142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53"/>
              </a:lnSpc>
            </a:pPr>
            <a:r>
              <a:rPr lang="en-US" sz="9958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TERIMA KASIH</a:t>
            </a:r>
          </a:p>
        </p:txBody>
      </p:sp>
      <p:sp>
        <p:nvSpPr>
          <p:cNvPr id="13" name="Freeform 13"/>
          <p:cNvSpPr/>
          <p:nvPr/>
        </p:nvSpPr>
        <p:spPr>
          <a:xfrm>
            <a:off x="1258393" y="1336016"/>
            <a:ext cx="806159" cy="785639"/>
          </a:xfrm>
          <a:custGeom>
            <a:avLst/>
            <a:gdLst/>
            <a:ahLst/>
            <a:cxnLst/>
            <a:rect l="l" t="t" r="r" b="b"/>
            <a:pathLst>
              <a:path w="806159" h="785639">
                <a:moveTo>
                  <a:pt x="0" y="0"/>
                </a:moveTo>
                <a:lnTo>
                  <a:pt x="806159" y="0"/>
                </a:lnTo>
                <a:lnTo>
                  <a:pt x="806159" y="785638"/>
                </a:lnTo>
                <a:lnTo>
                  <a:pt x="0" y="785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20800" y="323194"/>
            <a:ext cx="1901553" cy="1901553"/>
          </a:xfrm>
          <a:custGeom>
            <a:avLst/>
            <a:gdLst/>
            <a:ahLst/>
            <a:cxnLst/>
            <a:rect l="l" t="t" r="r" b="b"/>
            <a:pathLst>
              <a:path w="1901553" h="1901553">
                <a:moveTo>
                  <a:pt x="0" y="0"/>
                </a:moveTo>
                <a:lnTo>
                  <a:pt x="1901552" y="0"/>
                </a:lnTo>
                <a:lnTo>
                  <a:pt x="1901552" y="1901553"/>
                </a:lnTo>
                <a:lnTo>
                  <a:pt x="0" y="19015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859330" y="4382520"/>
            <a:ext cx="6918676" cy="467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Muhammad Nabil · NIM 22.10.031.802.043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78437" y="5059134"/>
            <a:ext cx="10331126" cy="92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Program Studi Teknik Informatika · Fakultas Teknik dan Informatika</a:t>
            </a:r>
          </a:p>
          <a:p>
            <a:pPr algn="just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361539" y="5746481"/>
            <a:ext cx="7564921" cy="92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Universitas Sains dan Teknologi Indonesia · 2026</a:t>
            </a:r>
          </a:p>
          <a:p>
            <a:pPr algn="just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925</Words>
  <Application>Microsoft Office PowerPoint</Application>
  <PresentationFormat>Custom</PresentationFormat>
  <Paragraphs>171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Coco Gothic Bold</vt:lpstr>
      <vt:lpstr>Calibri</vt:lpstr>
      <vt:lpstr>DM Serif Display</vt:lpstr>
      <vt:lpstr>Coco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UNIVERSITAS SAINS DAN TEKNOLOGI INDONESIA</dc:title>
  <cp:lastModifiedBy>MUHAMMAD NABIL</cp:lastModifiedBy>
  <cp:revision>2</cp:revision>
  <dcterms:created xsi:type="dcterms:W3CDTF">2006-08-16T00:00:00Z</dcterms:created>
  <dcterms:modified xsi:type="dcterms:W3CDTF">2026-06-21T15:09:32Z</dcterms:modified>
  <dc:identifier>DAHAGJt7vjQ</dc:identifier>
</cp:coreProperties>
</file>